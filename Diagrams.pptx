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9" r:id="rId3"/>
    <p:sldId id="272" r:id="rId4"/>
    <p:sldId id="275" r:id="rId5"/>
    <p:sldId id="261" r:id="rId6"/>
    <p:sldId id="262" r:id="rId7"/>
    <p:sldId id="264" r:id="rId8"/>
    <p:sldId id="265" r:id="rId9"/>
    <p:sldId id="269" r:id="rId10"/>
    <p:sldId id="271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660"/>
  </p:normalViewPr>
  <p:slideViewPr>
    <p:cSldViewPr snapToGrid="0">
      <p:cViewPr>
        <p:scale>
          <a:sx n="75" d="100"/>
          <a:sy n="75" d="100"/>
        </p:scale>
        <p:origin x="-8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9E73D5-F428-440D-B472-37E29D5F3EE2}" type="datetimeFigureOut">
              <a:rPr lang="en-MY" smtClean="0"/>
              <a:t>7/6/2026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ED072E-CC25-4B2A-AF14-CFE81CFF72E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89934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1. System Architecture Diagram 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072E-CC25-4B2A-AF14-CFE81CFF72E7}" type="slidenum">
              <a:rPr lang="en-MY" smtClean="0"/>
              <a:t>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35437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2. Block Diagram 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072E-CC25-4B2A-AF14-CFE81CFF72E7}" type="slidenum">
              <a:rPr lang="en-MY" smtClean="0"/>
              <a:t>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30585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02862-361B-3206-874E-FF0D2BB6C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FC7C98-7599-9082-7741-758537513C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05D862-F45D-1174-6A8E-4EFE5EFC46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3. Use Case Diagram: System Operation✅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FC242-93C6-48C4-8183-1FB808758F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072E-CC25-4B2A-AF14-CFE81CFF72E7}" type="slidenum">
              <a:rPr lang="en-MY" smtClean="0"/>
              <a:t>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459396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F0112-5628-9A7A-1178-6CE880DBB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F6B8BD-9AD7-9369-5CAA-FB1BB6011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98BBC1-4364-56CC-D4E0-DEB7BD0C61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3. Use Case Diagram: Model Development ✅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AE9A2-F552-FB13-48E8-D908B1689E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072E-CC25-4B2A-AF14-CFE81CFF72E7}" type="slidenum">
              <a:rPr lang="en-MY" smtClean="0"/>
              <a:t>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74227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4. Sequence Diagram 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072E-CC25-4B2A-AF14-CFE81CFF72E7}" type="slidenum">
              <a:rPr lang="en-MY" smtClean="0"/>
              <a:t>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836278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5. Activity Diagram 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072E-CC25-4B2A-AF14-CFE81CFF72E7}" type="slidenum">
              <a:rPr lang="en-MY" smtClean="0"/>
              <a:t>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042202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7. Component Diagram 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072E-CC25-4B2A-AF14-CFE81CFF72E7}" type="slidenum">
              <a:rPr lang="en-MY" smtClean="0"/>
              <a:t>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01510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8. Data Flow Diagram (DFD) 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072E-CC25-4B2A-AF14-CFE81CFF72E7}" type="slidenum">
              <a:rPr lang="en-MY" smtClean="0"/>
              <a:t>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854301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12. ML Model Architecture Diagram 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072E-CC25-4B2A-AF14-CFE81CFF72E7}" type="slidenum">
              <a:rPr lang="en-MY" smtClean="0"/>
              <a:t>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965073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6B838-5BB8-3CD8-671D-DC7266DB0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E261D7-935F-D8B7-2CEC-AEF4A3342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363FF-F174-27DF-F057-4B4DB7D29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12. ? ✅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A2303-BA25-1D32-6F4A-FD79AA90A4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072E-CC25-4B2A-AF14-CFE81CFF72E7}" type="slidenum">
              <a:rPr lang="en-MY" smtClean="0"/>
              <a:t>10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496837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13. Deployment Diagram 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D072E-CC25-4B2A-AF14-CFE81CFF72E7}" type="slidenum">
              <a:rPr lang="en-MY" smtClean="0"/>
              <a:t>11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64603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59497-8009-BBC3-3575-15D07FB348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3099B3-4BBC-3134-C359-F9317B298B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5CEA1-1CF9-7DF9-4E51-A9DAEEFBD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9F7E8-2D98-478E-A6E5-D53BB3A307A6}" type="datetimeFigureOut">
              <a:rPr lang="en-MY" smtClean="0"/>
              <a:t>7/6/2026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BB631-B990-BFF5-73AB-8EB08DC8D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1BE50-CB6A-2D34-BF3F-1E3A31373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28C30-E31F-4F3C-9E86-8A65B146970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59807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9988F-6817-2559-50FF-511FC43A1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8CCB7-4140-9708-3047-CABE66CF5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407CE-C44E-1C31-04C4-901512748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9F7E8-2D98-478E-A6E5-D53BB3A307A6}" type="datetimeFigureOut">
              <a:rPr lang="en-MY" smtClean="0"/>
              <a:t>7/6/2026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48E07-8434-AE41-3CAD-D5EEA15B8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D575C-F97B-52B4-1128-5C68D9B13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28C30-E31F-4F3C-9E86-8A65B146970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0552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672E0-CF9C-7D9C-C83D-6232E7FEE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89535-92AA-A55E-739B-CDC95A43C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8B0F9-1264-75B2-0B71-561C5E126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9F7E8-2D98-478E-A6E5-D53BB3A307A6}" type="datetimeFigureOut">
              <a:rPr lang="en-MY" smtClean="0"/>
              <a:t>7/6/2026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FDFF-9985-22F4-D805-D1E79A9A7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6BF1A-0FAC-6FDC-8A39-E45DF64C0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28C30-E31F-4F3C-9E86-8A65B146970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36935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0B4FE-C9CE-A20F-632C-1196793FC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5BD9C-4053-1435-EECB-9C54B7B165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8A07BC-5993-5EC9-7B24-EFF3D83F3D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A55AB-EFCD-5EAD-303F-97F8204D9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9F7E8-2D98-478E-A6E5-D53BB3A307A6}" type="datetimeFigureOut">
              <a:rPr lang="en-MY" smtClean="0"/>
              <a:t>7/6/2026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7214E2-7CB7-E7A3-36F2-61EB7EF5C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FF344-2013-E9DF-973D-BB064B734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28C30-E31F-4F3C-9E86-8A65B146970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72541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FCC0C-6965-6A1D-E5B1-DD0E838DD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CEBE52-A6FB-21BD-B9DA-B49A06100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5A1485-A1C3-6478-22DD-DA18440C03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77E084-CD9E-B4DE-D9E6-75DDE2C3C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877E36-60CB-511E-CDF0-AA669BD13E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22E11A-9F9F-4E0E-9FE2-A4CB1045B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9F7E8-2D98-478E-A6E5-D53BB3A307A6}" type="datetimeFigureOut">
              <a:rPr lang="en-MY" smtClean="0"/>
              <a:t>7/6/2026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6E2EBD-3E06-4750-9299-872E35DAD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2F53C7-A51B-084E-E3F8-4494920C6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28C30-E31F-4F3C-9E86-8A65B146970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84916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9F8F8-74F5-46F1-3CC6-3F28A78C9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84FF48-B701-CF87-8B70-4A141F1E7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9F7E8-2D98-478E-A6E5-D53BB3A307A6}" type="datetimeFigureOut">
              <a:rPr lang="en-MY" smtClean="0"/>
              <a:t>7/6/2026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51E015-D27D-FBF0-40CF-9FF2AE1BC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7CF940-7D81-0EEC-9CFE-102DEBD9D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28C30-E31F-4F3C-9E86-8A65B146970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55351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A289F3-7C2D-58ED-9D2C-04E33585D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9F7E8-2D98-478E-A6E5-D53BB3A307A6}" type="datetimeFigureOut">
              <a:rPr lang="en-MY" smtClean="0"/>
              <a:t>7/6/2026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EFCABE-BA4D-2665-D466-2B0EE332B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76AAA-EE2E-56DA-0A3C-96DC0FD63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28C30-E31F-4F3C-9E86-8A65B146970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56833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2366F-A555-3AEC-9DD8-6F2CBD272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8BC9C-CDAD-8AA6-1C5C-19EEC2FDE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F2A359-19E4-9FF9-63FA-906C82902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48499-F011-6D85-B48C-A97BEE20E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9F7E8-2D98-478E-A6E5-D53BB3A307A6}" type="datetimeFigureOut">
              <a:rPr lang="en-MY" smtClean="0"/>
              <a:t>7/6/2026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45FD7-5864-23C2-C24A-51818FE1F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2DE042-306B-7666-B145-E34615EB3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28C30-E31F-4F3C-9E86-8A65B146970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00904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6387D-B814-1F73-2153-AEE2F9DDD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512864-30EC-B0F4-F26F-19F1B27B85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87ED4-5FA2-1712-E687-B154E91D6A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FDF0D9-8022-ECCA-8099-1E0BA01C2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9F7E8-2D98-478E-A6E5-D53BB3A307A6}" type="datetimeFigureOut">
              <a:rPr lang="en-MY" smtClean="0"/>
              <a:t>7/6/2026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E064A9-3E17-EC1F-7EEC-881192823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D67212-D843-C072-646F-AEAA5691A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28C30-E31F-4F3C-9E86-8A65B146970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73488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334C2-9C2D-9D2A-7137-29F1F279B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22ACE5-DBA1-A6CC-3D9D-7AE5ADF832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F3501-EDBB-5CB9-DED7-7017BC410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9F7E8-2D98-478E-A6E5-D53BB3A307A6}" type="datetimeFigureOut">
              <a:rPr lang="en-MY" smtClean="0"/>
              <a:t>7/6/2026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23B0A-59B8-9277-CC82-020848404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4354D-1F1B-767C-4892-4C1EB0600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28C30-E31F-4F3C-9E86-8A65B146970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065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539FE2-68CA-A34D-7FA5-BD393AEFB2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F61FF5-73DF-A5B3-DE42-E000B5B5F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2C14D-F488-4711-6009-D4DFC1E9E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9F7E8-2D98-478E-A6E5-D53BB3A307A6}" type="datetimeFigureOut">
              <a:rPr lang="en-MY" smtClean="0"/>
              <a:t>7/6/2026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1952B-2343-D1BE-54CE-5AB3C9918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91FDB-2282-9787-BD28-B5532F090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28C30-E31F-4F3C-9E86-8A65B146970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06775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6E937B-4DDA-F7B9-C230-452FAD981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F3D97-9527-03AC-4B4B-8B1129B1D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36685-0AA8-62BF-B7D1-7712365E98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D9F7E8-2D98-478E-A6E5-D53BB3A307A6}" type="datetimeFigureOut">
              <a:rPr lang="en-MY" smtClean="0"/>
              <a:t>7/6/2026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0CBD5-52C8-F43A-70F5-55CEB3AC77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3BA84-F062-7201-6C58-C8253214EE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528C30-E31F-4F3C-9E86-8A65B146970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26127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BD856E8-FABB-6649-1B61-2E26A1A34B86}"/>
              </a:ext>
            </a:extLst>
          </p:cNvPr>
          <p:cNvSpPr/>
          <p:nvPr/>
        </p:nvSpPr>
        <p:spPr>
          <a:xfrm>
            <a:off x="4875097" y="405667"/>
            <a:ext cx="1895370" cy="98979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MY" sz="1000" b="1" dirty="0"/>
              <a:t>ESP32</a:t>
            </a:r>
          </a:p>
          <a:p>
            <a:pPr marL="171450" indent="-171450">
              <a:buFontTx/>
              <a:buChar char="-"/>
            </a:pPr>
            <a:r>
              <a:rPr lang="en-MY" sz="1000" dirty="0"/>
              <a:t>SCT-013 Current Sensor</a:t>
            </a:r>
          </a:p>
          <a:p>
            <a:pPr marL="171450" indent="-171450">
              <a:buFontTx/>
              <a:buChar char="-"/>
            </a:pPr>
            <a:r>
              <a:rPr lang="en-MY" sz="1000" dirty="0"/>
              <a:t>ZMPT101B Voltage Sensor </a:t>
            </a:r>
          </a:p>
          <a:p>
            <a:pPr marL="171450" indent="-171450">
              <a:buFontTx/>
              <a:buChar char="-"/>
            </a:pPr>
            <a:r>
              <a:rPr lang="en-MY" sz="1000" dirty="0"/>
              <a:t>Power Calculation</a:t>
            </a:r>
          </a:p>
          <a:p>
            <a:pPr marL="171450" indent="-171450">
              <a:buFontTx/>
              <a:buChar char="-"/>
            </a:pPr>
            <a:r>
              <a:rPr lang="en-MY" sz="1000" dirty="0"/>
              <a:t>MQTT Client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CF78AF-36DF-2E28-064C-6FE9324E48B7}"/>
              </a:ext>
            </a:extLst>
          </p:cNvPr>
          <p:cNvSpPr/>
          <p:nvPr/>
        </p:nvSpPr>
        <p:spPr>
          <a:xfrm>
            <a:off x="3888743" y="1617439"/>
            <a:ext cx="4097429" cy="35052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D3DFB7-BA56-692E-53A4-F3DDA343FBDC}"/>
              </a:ext>
            </a:extLst>
          </p:cNvPr>
          <p:cNvSpPr txBox="1"/>
          <p:nvPr/>
        </p:nvSpPr>
        <p:spPr>
          <a:xfrm>
            <a:off x="5604381" y="1367561"/>
            <a:ext cx="14373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sz="1000" dirty="0"/>
              <a:t> </a:t>
            </a:r>
            <a:r>
              <a:rPr lang="en-MY" sz="900" dirty="0"/>
              <a:t>Aggregate Power</a:t>
            </a:r>
            <a:endParaRPr lang="en-US" sz="9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33A02EC-E8CA-C8A1-08A2-CE2F1746476A}"/>
              </a:ext>
            </a:extLst>
          </p:cNvPr>
          <p:cNvSpPr txBox="1"/>
          <p:nvPr/>
        </p:nvSpPr>
        <p:spPr>
          <a:xfrm>
            <a:off x="5091537" y="1930704"/>
            <a:ext cx="60940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000" dirty="0" err="1"/>
              <a:t>Mosquitto</a:t>
            </a:r>
            <a:r>
              <a:rPr lang="en-MY" sz="1000" dirty="0"/>
              <a:t> MQTT Broker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DB3AA23-DAFE-1D39-4E3C-CE449A27388C}"/>
              </a:ext>
            </a:extLst>
          </p:cNvPr>
          <p:cNvSpPr txBox="1"/>
          <p:nvPr/>
        </p:nvSpPr>
        <p:spPr>
          <a:xfrm>
            <a:off x="4939137" y="1679473"/>
            <a:ext cx="60940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000" dirty="0"/>
              <a:t> </a:t>
            </a:r>
            <a:r>
              <a:rPr lang="en-MY" sz="1000" b="1" dirty="0"/>
              <a:t>Raspberry Pi (Docker Host)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C8E73A-D029-908F-0D28-D61412398CE1}"/>
              </a:ext>
            </a:extLst>
          </p:cNvPr>
          <p:cNvSpPr txBox="1"/>
          <p:nvPr/>
        </p:nvSpPr>
        <p:spPr>
          <a:xfrm>
            <a:off x="2976885" y="3557593"/>
            <a:ext cx="60045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sz="1000" dirty="0" err="1"/>
              <a:t>InfluxDB</a:t>
            </a:r>
            <a:r>
              <a:rPr lang="en-MY" sz="1000" dirty="0"/>
              <a:t> Time-Series Database</a:t>
            </a:r>
            <a:br>
              <a:rPr lang="en-MY" sz="1000" dirty="0"/>
            </a:br>
            <a:r>
              <a:rPr lang="en-MY" sz="1000" dirty="0"/>
              <a:t>(Raw Data + NILM Results + Relay Status + System Metrics)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D9B916E-FE89-0405-E50E-CCF6D2DB83C1}"/>
              </a:ext>
            </a:extLst>
          </p:cNvPr>
          <p:cNvCxnSpPr>
            <a:cxnSpLocks/>
          </p:cNvCxnSpPr>
          <p:nvPr/>
        </p:nvCxnSpPr>
        <p:spPr>
          <a:xfrm>
            <a:off x="5834931" y="2175234"/>
            <a:ext cx="0" cy="159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FDB4CC0-F7B6-1D89-4FCA-30FE8DBB5A6E}"/>
              </a:ext>
            </a:extLst>
          </p:cNvPr>
          <p:cNvSpPr txBox="1"/>
          <p:nvPr/>
        </p:nvSpPr>
        <p:spPr>
          <a:xfrm>
            <a:off x="5091996" y="2305699"/>
            <a:ext cx="60940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000" dirty="0"/>
              <a:t>Node-RED Data Processing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610655-3AB3-62AB-CD31-3D0E7015EB24}"/>
              </a:ext>
            </a:extLst>
          </p:cNvPr>
          <p:cNvSpPr txBox="1"/>
          <p:nvPr/>
        </p:nvSpPr>
        <p:spPr>
          <a:xfrm>
            <a:off x="4910164" y="4055576"/>
            <a:ext cx="60940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000" dirty="0"/>
              <a:t>Node-RED Priority Management Logic</a:t>
            </a:r>
            <a:br>
              <a:rPr lang="en-MY" sz="1000" dirty="0"/>
            </a:br>
            <a:r>
              <a:rPr lang="en-MY" sz="1000" dirty="0"/>
              <a:t> &gt;2200W → Turn OFF Lamp </a:t>
            </a:r>
            <a:br>
              <a:rPr lang="en-MY" sz="1000" dirty="0"/>
            </a:br>
            <a:r>
              <a:rPr lang="en-MY" sz="1000" dirty="0"/>
              <a:t>Still &gt;2200W → Turn OFF Laptop  </a:t>
            </a:r>
          </a:p>
          <a:p>
            <a:r>
              <a:rPr lang="en-MY" sz="1000" dirty="0"/>
              <a:t>Kettle and Toaster Protected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5F9EF5-96AC-7260-5AE7-1BF234198914}"/>
              </a:ext>
            </a:extLst>
          </p:cNvPr>
          <p:cNvSpPr txBox="1"/>
          <p:nvPr/>
        </p:nvSpPr>
        <p:spPr>
          <a:xfrm>
            <a:off x="4910164" y="4823927"/>
            <a:ext cx="20518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sz="1200" dirty="0"/>
              <a:t> </a:t>
            </a:r>
            <a:r>
              <a:rPr lang="en-MY" sz="1000" dirty="0"/>
              <a:t>MQTT Control Command</a:t>
            </a:r>
            <a:endParaRPr lang="en-US" sz="10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2615388-A82D-FED2-FB01-440412136728}"/>
              </a:ext>
            </a:extLst>
          </p:cNvPr>
          <p:cNvSpPr/>
          <p:nvPr/>
        </p:nvSpPr>
        <p:spPr>
          <a:xfrm>
            <a:off x="4956131" y="5286514"/>
            <a:ext cx="1989698" cy="31043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b="1" dirty="0"/>
              <a:t>ESP32 Relay Controller 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316FE9C-2A0B-3F11-55CA-4E7F007CF8F3}"/>
              </a:ext>
            </a:extLst>
          </p:cNvPr>
          <p:cNvCxnSpPr>
            <a:cxnSpLocks/>
          </p:cNvCxnSpPr>
          <p:nvPr/>
        </p:nvCxnSpPr>
        <p:spPr>
          <a:xfrm>
            <a:off x="5851060" y="2516428"/>
            <a:ext cx="0" cy="159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7043D84F-090B-E19E-76BD-8F42A0C37C09}"/>
              </a:ext>
            </a:extLst>
          </p:cNvPr>
          <p:cNvSpPr txBox="1"/>
          <p:nvPr/>
        </p:nvSpPr>
        <p:spPr>
          <a:xfrm>
            <a:off x="5194710" y="2650693"/>
            <a:ext cx="60940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000" dirty="0"/>
              <a:t>Buffer (599 Samples)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01BBA08-7C8D-0E33-FDC8-77881A2ADBAE}"/>
              </a:ext>
            </a:extLst>
          </p:cNvPr>
          <p:cNvCxnSpPr>
            <a:cxnSpLocks/>
          </p:cNvCxnSpPr>
          <p:nvPr/>
        </p:nvCxnSpPr>
        <p:spPr>
          <a:xfrm>
            <a:off x="5843608" y="3426013"/>
            <a:ext cx="0" cy="159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A251B58-4E05-DF43-C207-4D42638C1A92}"/>
              </a:ext>
            </a:extLst>
          </p:cNvPr>
          <p:cNvCxnSpPr>
            <a:cxnSpLocks/>
          </p:cNvCxnSpPr>
          <p:nvPr/>
        </p:nvCxnSpPr>
        <p:spPr>
          <a:xfrm>
            <a:off x="5860927" y="3940670"/>
            <a:ext cx="0" cy="159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E2788A31-E24F-8E55-2631-F80074B7C2C3}"/>
              </a:ext>
            </a:extLst>
          </p:cNvPr>
          <p:cNvSpPr/>
          <p:nvPr/>
        </p:nvSpPr>
        <p:spPr>
          <a:xfrm>
            <a:off x="4956131" y="5748943"/>
            <a:ext cx="2005932" cy="25909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b="1" dirty="0"/>
              <a:t>Relay Module</a:t>
            </a:r>
            <a:endParaRPr lang="en-MY" sz="1000" dirty="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B445F62-3EDA-E352-9B0B-BF8C20B3D684}"/>
              </a:ext>
            </a:extLst>
          </p:cNvPr>
          <p:cNvCxnSpPr>
            <a:cxnSpLocks/>
          </p:cNvCxnSpPr>
          <p:nvPr/>
        </p:nvCxnSpPr>
        <p:spPr>
          <a:xfrm>
            <a:off x="5873495" y="4704375"/>
            <a:ext cx="0" cy="159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5EDB449-6793-2BD7-6D46-A6DC9942E631}"/>
              </a:ext>
            </a:extLst>
          </p:cNvPr>
          <p:cNvCxnSpPr>
            <a:cxnSpLocks/>
          </p:cNvCxnSpPr>
          <p:nvPr/>
        </p:nvCxnSpPr>
        <p:spPr>
          <a:xfrm>
            <a:off x="5892120" y="5122684"/>
            <a:ext cx="0" cy="159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6110F9D-2E60-80D5-831F-6B4E65D2A6D8}"/>
              </a:ext>
            </a:extLst>
          </p:cNvPr>
          <p:cNvCxnSpPr>
            <a:cxnSpLocks/>
          </p:cNvCxnSpPr>
          <p:nvPr/>
        </p:nvCxnSpPr>
        <p:spPr>
          <a:xfrm>
            <a:off x="5913130" y="5596945"/>
            <a:ext cx="0" cy="159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178C7E6-5C52-B2B3-6E3B-8C802241E01B}"/>
              </a:ext>
            </a:extLst>
          </p:cNvPr>
          <p:cNvCxnSpPr>
            <a:cxnSpLocks/>
          </p:cNvCxnSpPr>
          <p:nvPr/>
        </p:nvCxnSpPr>
        <p:spPr>
          <a:xfrm>
            <a:off x="5822782" y="1396378"/>
            <a:ext cx="0" cy="208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49B1F88F-31AB-F3FD-E7BE-C0DE210B3FAD}"/>
              </a:ext>
            </a:extLst>
          </p:cNvPr>
          <p:cNvCxnSpPr/>
          <p:nvPr/>
        </p:nvCxnSpPr>
        <p:spPr>
          <a:xfrm>
            <a:off x="5851229" y="2866434"/>
            <a:ext cx="0" cy="1206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52B46F2-3421-ECAE-9C3B-1DC4576CF3F2}"/>
              </a:ext>
            </a:extLst>
          </p:cNvPr>
          <p:cNvCxnSpPr/>
          <p:nvPr/>
        </p:nvCxnSpPr>
        <p:spPr>
          <a:xfrm>
            <a:off x="5174124" y="3313684"/>
            <a:ext cx="0" cy="1206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0A0F1CB-85E2-607D-223F-57481D27BDE3}"/>
              </a:ext>
            </a:extLst>
          </p:cNvPr>
          <p:cNvCxnSpPr/>
          <p:nvPr/>
        </p:nvCxnSpPr>
        <p:spPr>
          <a:xfrm>
            <a:off x="6561391" y="3313684"/>
            <a:ext cx="0" cy="1206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A91467C-5AE0-1026-DD9C-15390D95167F}"/>
              </a:ext>
            </a:extLst>
          </p:cNvPr>
          <p:cNvCxnSpPr>
            <a:cxnSpLocks/>
          </p:cNvCxnSpPr>
          <p:nvPr/>
        </p:nvCxnSpPr>
        <p:spPr>
          <a:xfrm>
            <a:off x="5163892" y="2983382"/>
            <a:ext cx="138770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56DC6CC3-E358-1CC4-B67B-E27B9CC4AB81}"/>
              </a:ext>
            </a:extLst>
          </p:cNvPr>
          <p:cNvCxnSpPr>
            <a:cxnSpLocks/>
          </p:cNvCxnSpPr>
          <p:nvPr/>
        </p:nvCxnSpPr>
        <p:spPr>
          <a:xfrm>
            <a:off x="5174124" y="2983382"/>
            <a:ext cx="0" cy="159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314C0C88-0D18-1948-5C0E-236319813AB6}"/>
              </a:ext>
            </a:extLst>
          </p:cNvPr>
          <p:cNvCxnSpPr>
            <a:cxnSpLocks/>
          </p:cNvCxnSpPr>
          <p:nvPr/>
        </p:nvCxnSpPr>
        <p:spPr>
          <a:xfrm>
            <a:off x="6542643" y="2983381"/>
            <a:ext cx="0" cy="159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81269D94-C355-5C12-B527-611DADAD6998}"/>
              </a:ext>
            </a:extLst>
          </p:cNvPr>
          <p:cNvSpPr txBox="1"/>
          <p:nvPr/>
        </p:nvSpPr>
        <p:spPr>
          <a:xfrm>
            <a:off x="4397162" y="3092449"/>
            <a:ext cx="15014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000" dirty="0"/>
              <a:t>Seq2Point NILM Model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1EE8274-4A57-FC15-D4ED-93A0882B9000}"/>
              </a:ext>
            </a:extLst>
          </p:cNvPr>
          <p:cNvSpPr txBox="1"/>
          <p:nvPr/>
        </p:nvSpPr>
        <p:spPr>
          <a:xfrm>
            <a:off x="5822782" y="3093369"/>
            <a:ext cx="208948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000" dirty="0"/>
              <a:t>Appliance Classification Model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090FFC59-33E4-54C7-5143-FCD7A94F0CFA}"/>
              </a:ext>
            </a:extLst>
          </p:cNvPr>
          <p:cNvCxnSpPr>
            <a:cxnSpLocks/>
          </p:cNvCxnSpPr>
          <p:nvPr/>
        </p:nvCxnSpPr>
        <p:spPr>
          <a:xfrm>
            <a:off x="5174124" y="3426013"/>
            <a:ext cx="138770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0340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777F09-1049-6432-B297-1D391E235702}"/>
              </a:ext>
            </a:extLst>
          </p:cNvPr>
          <p:cNvSpPr/>
          <p:nvPr/>
        </p:nvSpPr>
        <p:spPr>
          <a:xfrm>
            <a:off x="5381877" y="587900"/>
            <a:ext cx="1428245" cy="5411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ESP32 </a:t>
            </a:r>
          </a:p>
          <a:p>
            <a:pPr algn="ctr"/>
            <a:r>
              <a:rPr lang="en-MY" sz="1000" dirty="0"/>
              <a:t>CT + Voltage</a:t>
            </a:r>
          </a:p>
          <a:p>
            <a:pPr algn="ctr"/>
            <a:r>
              <a:rPr lang="en-MY" sz="1000" dirty="0"/>
              <a:t>Sensors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EC74C5-359F-5A91-5EFF-E234E2E4E3DB}"/>
              </a:ext>
            </a:extLst>
          </p:cNvPr>
          <p:cNvSpPr/>
          <p:nvPr/>
        </p:nvSpPr>
        <p:spPr>
          <a:xfrm>
            <a:off x="5391953" y="1301661"/>
            <a:ext cx="1428246" cy="4244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 Raspberry Pi</a:t>
            </a:r>
          </a:p>
          <a:p>
            <a:pPr algn="ctr"/>
            <a:r>
              <a:rPr lang="en-MY" sz="1000" dirty="0" err="1"/>
              <a:t>Mosquitto</a:t>
            </a:r>
            <a:r>
              <a:rPr lang="en-MY" sz="1000" dirty="0"/>
              <a:t> Broker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2E6FA6-54AA-48D7-3DE4-AB6E9DF8F98F}"/>
              </a:ext>
            </a:extLst>
          </p:cNvPr>
          <p:cNvSpPr/>
          <p:nvPr/>
        </p:nvSpPr>
        <p:spPr>
          <a:xfrm>
            <a:off x="5391951" y="1892213"/>
            <a:ext cx="1428246" cy="4244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Node-RED</a:t>
            </a:r>
          </a:p>
          <a:p>
            <a:pPr algn="ctr"/>
            <a:r>
              <a:rPr lang="en-MY" sz="1000" dirty="0"/>
              <a:t>Data Processing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D018C2-BE48-DB33-1D4D-1A8D25EDDF0D}"/>
              </a:ext>
            </a:extLst>
          </p:cNvPr>
          <p:cNvSpPr/>
          <p:nvPr/>
        </p:nvSpPr>
        <p:spPr>
          <a:xfrm>
            <a:off x="4578929" y="3211253"/>
            <a:ext cx="965422" cy="4244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Seq2Point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A854C52-10CD-3341-08F5-95D32CF49BAC}"/>
              </a:ext>
            </a:extLst>
          </p:cNvPr>
          <p:cNvCxnSpPr>
            <a:cxnSpLocks/>
          </p:cNvCxnSpPr>
          <p:nvPr/>
        </p:nvCxnSpPr>
        <p:spPr>
          <a:xfrm flipH="1">
            <a:off x="6129045" y="2914093"/>
            <a:ext cx="110" cy="13823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71407BF-289F-B8CD-C48A-2FA41550DEAD}"/>
              </a:ext>
            </a:extLst>
          </p:cNvPr>
          <p:cNvCxnSpPr>
            <a:cxnSpLocks/>
          </p:cNvCxnSpPr>
          <p:nvPr/>
        </p:nvCxnSpPr>
        <p:spPr>
          <a:xfrm>
            <a:off x="5041976" y="3052326"/>
            <a:ext cx="210804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300322E-7217-92B7-2103-718CAC395D45}"/>
              </a:ext>
            </a:extLst>
          </p:cNvPr>
          <p:cNvCxnSpPr>
            <a:cxnSpLocks/>
          </p:cNvCxnSpPr>
          <p:nvPr/>
        </p:nvCxnSpPr>
        <p:spPr>
          <a:xfrm>
            <a:off x="5052048" y="3040745"/>
            <a:ext cx="0" cy="159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183E27D-DEA9-B404-90BF-BA862F35C4FC}"/>
              </a:ext>
            </a:extLst>
          </p:cNvPr>
          <p:cNvCxnSpPr>
            <a:cxnSpLocks/>
          </p:cNvCxnSpPr>
          <p:nvPr/>
        </p:nvCxnSpPr>
        <p:spPr>
          <a:xfrm>
            <a:off x="7150025" y="3040745"/>
            <a:ext cx="0" cy="159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9AAF68D-8A28-4906-37A5-44BD494A1F19}"/>
              </a:ext>
            </a:extLst>
          </p:cNvPr>
          <p:cNvCxnSpPr>
            <a:cxnSpLocks/>
          </p:cNvCxnSpPr>
          <p:nvPr/>
        </p:nvCxnSpPr>
        <p:spPr>
          <a:xfrm>
            <a:off x="5048373" y="3751635"/>
            <a:ext cx="210804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900A5E5-283C-24EE-D87C-5E0C39E05BDD}"/>
              </a:ext>
            </a:extLst>
          </p:cNvPr>
          <p:cNvCxnSpPr>
            <a:cxnSpLocks/>
          </p:cNvCxnSpPr>
          <p:nvPr/>
        </p:nvCxnSpPr>
        <p:spPr>
          <a:xfrm>
            <a:off x="5046052" y="3646984"/>
            <a:ext cx="0" cy="1206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8AD8A40-67F9-B7AD-0E05-D58479D11E8A}"/>
              </a:ext>
            </a:extLst>
          </p:cNvPr>
          <p:cNvCxnSpPr/>
          <p:nvPr/>
        </p:nvCxnSpPr>
        <p:spPr>
          <a:xfrm>
            <a:off x="7156422" y="3646984"/>
            <a:ext cx="0" cy="1206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DB59CBD-FC2D-CD82-8F3D-9BE2FC8A59F7}"/>
              </a:ext>
            </a:extLst>
          </p:cNvPr>
          <p:cNvCxnSpPr>
            <a:cxnSpLocks/>
          </p:cNvCxnSpPr>
          <p:nvPr/>
        </p:nvCxnSpPr>
        <p:spPr>
          <a:xfrm>
            <a:off x="6129045" y="3751635"/>
            <a:ext cx="0" cy="1754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BB15A92C-CB0E-8457-D5A9-70F5825B2948}"/>
              </a:ext>
            </a:extLst>
          </p:cNvPr>
          <p:cNvSpPr/>
          <p:nvPr/>
        </p:nvSpPr>
        <p:spPr>
          <a:xfrm>
            <a:off x="5391951" y="2489685"/>
            <a:ext cx="1451217" cy="4244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Buffer 599</a:t>
            </a:r>
          </a:p>
          <a:p>
            <a:pPr algn="ctr"/>
            <a:r>
              <a:rPr lang="en-MY" sz="1000" dirty="0"/>
              <a:t>Samples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07BF4C0-B5FF-52A3-5939-DCC8125117CF}"/>
              </a:ext>
            </a:extLst>
          </p:cNvPr>
          <p:cNvSpPr/>
          <p:nvPr/>
        </p:nvSpPr>
        <p:spPr>
          <a:xfrm>
            <a:off x="6667314" y="3211253"/>
            <a:ext cx="965422" cy="4244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Classifier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70C0C5B-BFD5-2B97-1E3C-859F92B09723}"/>
              </a:ext>
            </a:extLst>
          </p:cNvPr>
          <p:cNvSpPr/>
          <p:nvPr/>
        </p:nvSpPr>
        <p:spPr>
          <a:xfrm>
            <a:off x="5403436" y="3927113"/>
            <a:ext cx="1451217" cy="4244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 err="1"/>
              <a:t>InfluxDB</a:t>
            </a:r>
            <a:r>
              <a:rPr lang="en-MY" sz="1000" dirty="0"/>
              <a:t> 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B0535EA-DD90-3575-027F-5FF02E2A3E35}"/>
              </a:ext>
            </a:extLst>
          </p:cNvPr>
          <p:cNvSpPr/>
          <p:nvPr/>
        </p:nvSpPr>
        <p:spPr>
          <a:xfrm>
            <a:off x="5403436" y="4526998"/>
            <a:ext cx="1451217" cy="4244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Priority Logic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EA5F239-8C61-1EF0-D96C-0948A77FCF6C}"/>
              </a:ext>
            </a:extLst>
          </p:cNvPr>
          <p:cNvCxnSpPr>
            <a:cxnSpLocks/>
          </p:cNvCxnSpPr>
          <p:nvPr/>
        </p:nvCxnSpPr>
        <p:spPr>
          <a:xfrm>
            <a:off x="6125474" y="4351521"/>
            <a:ext cx="0" cy="1754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692341F-EA75-0EBD-F353-D62A7F9DBB6C}"/>
              </a:ext>
            </a:extLst>
          </p:cNvPr>
          <p:cNvCxnSpPr>
            <a:cxnSpLocks/>
          </p:cNvCxnSpPr>
          <p:nvPr/>
        </p:nvCxnSpPr>
        <p:spPr>
          <a:xfrm>
            <a:off x="6125474" y="4951406"/>
            <a:ext cx="0" cy="1754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C82AB173-DDF2-2DC8-4017-E84BF636388A}"/>
              </a:ext>
            </a:extLst>
          </p:cNvPr>
          <p:cNvSpPr/>
          <p:nvPr/>
        </p:nvSpPr>
        <p:spPr>
          <a:xfrm>
            <a:off x="5403436" y="5163609"/>
            <a:ext cx="1451217" cy="4244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ESP32 Relay Control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CABEA6B-1170-12FC-9C27-8F066D8E6E44}"/>
              </a:ext>
            </a:extLst>
          </p:cNvPr>
          <p:cNvCxnSpPr>
            <a:cxnSpLocks/>
          </p:cNvCxnSpPr>
          <p:nvPr/>
        </p:nvCxnSpPr>
        <p:spPr>
          <a:xfrm>
            <a:off x="6125474" y="5588017"/>
            <a:ext cx="0" cy="1754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1BB9D763-980B-8F81-5FCA-7FE69648ED1E}"/>
              </a:ext>
            </a:extLst>
          </p:cNvPr>
          <p:cNvSpPr/>
          <p:nvPr/>
        </p:nvSpPr>
        <p:spPr>
          <a:xfrm>
            <a:off x="5403436" y="5763495"/>
            <a:ext cx="1451217" cy="4244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Relay Module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BDF3BAD-2C83-F267-AA12-9731C8B47F5D}"/>
              </a:ext>
            </a:extLst>
          </p:cNvPr>
          <p:cNvCxnSpPr>
            <a:cxnSpLocks/>
          </p:cNvCxnSpPr>
          <p:nvPr/>
        </p:nvCxnSpPr>
        <p:spPr>
          <a:xfrm>
            <a:off x="6117559" y="2314207"/>
            <a:ext cx="0" cy="1754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EF4070BF-2D8F-6FB3-DC6C-EE0D9F1F0218}"/>
              </a:ext>
            </a:extLst>
          </p:cNvPr>
          <p:cNvCxnSpPr>
            <a:cxnSpLocks/>
          </p:cNvCxnSpPr>
          <p:nvPr/>
        </p:nvCxnSpPr>
        <p:spPr>
          <a:xfrm>
            <a:off x="6106072" y="1716735"/>
            <a:ext cx="0" cy="1754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2F738F3-86B5-697C-914C-1DEAAF1FBB42}"/>
              </a:ext>
            </a:extLst>
          </p:cNvPr>
          <p:cNvCxnSpPr>
            <a:cxnSpLocks/>
          </p:cNvCxnSpPr>
          <p:nvPr/>
        </p:nvCxnSpPr>
        <p:spPr>
          <a:xfrm>
            <a:off x="6077003" y="1126183"/>
            <a:ext cx="0" cy="1754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9479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4B93B-D3D6-17B8-6181-E0BB4503E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BA986F9E-BA3A-2183-1784-B97E9052B1E1}"/>
              </a:ext>
            </a:extLst>
          </p:cNvPr>
          <p:cNvSpPr/>
          <p:nvPr/>
        </p:nvSpPr>
        <p:spPr>
          <a:xfrm>
            <a:off x="2088613" y="1639350"/>
            <a:ext cx="412955" cy="4031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4E6475F-2D1B-9963-BF1A-8FF4EC40020D}"/>
              </a:ext>
            </a:extLst>
          </p:cNvPr>
          <p:cNvCxnSpPr>
            <a:cxnSpLocks/>
          </p:cNvCxnSpPr>
          <p:nvPr/>
        </p:nvCxnSpPr>
        <p:spPr>
          <a:xfrm>
            <a:off x="2088613" y="2189957"/>
            <a:ext cx="41295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C052C57-964E-9DE2-D28E-9F869218CFEE}"/>
              </a:ext>
            </a:extLst>
          </p:cNvPr>
          <p:cNvCxnSpPr>
            <a:cxnSpLocks/>
            <a:stCxn id="14" idx="4"/>
          </p:cNvCxnSpPr>
          <p:nvPr/>
        </p:nvCxnSpPr>
        <p:spPr>
          <a:xfrm>
            <a:off x="2295091" y="2042473"/>
            <a:ext cx="0" cy="4031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B94006E-4483-098E-FF71-6FE3F47403D8}"/>
              </a:ext>
            </a:extLst>
          </p:cNvPr>
          <p:cNvCxnSpPr>
            <a:cxnSpLocks/>
          </p:cNvCxnSpPr>
          <p:nvPr/>
        </p:nvCxnSpPr>
        <p:spPr>
          <a:xfrm flipH="1">
            <a:off x="2088613" y="2445596"/>
            <a:ext cx="206478" cy="1769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871C910-48D9-B577-A290-1B588FB47DDC}"/>
              </a:ext>
            </a:extLst>
          </p:cNvPr>
          <p:cNvCxnSpPr>
            <a:cxnSpLocks/>
          </p:cNvCxnSpPr>
          <p:nvPr/>
        </p:nvCxnSpPr>
        <p:spPr>
          <a:xfrm>
            <a:off x="2295091" y="2445596"/>
            <a:ext cx="206475" cy="1769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4091D16-D207-334A-A860-7E62507F40CD}"/>
              </a:ext>
            </a:extLst>
          </p:cNvPr>
          <p:cNvSpPr/>
          <p:nvPr/>
        </p:nvSpPr>
        <p:spPr>
          <a:xfrm>
            <a:off x="3038167" y="402788"/>
            <a:ext cx="4651775" cy="56830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C55934-F115-3941-B54F-587F074A7D0D}"/>
              </a:ext>
            </a:extLst>
          </p:cNvPr>
          <p:cNvSpPr txBox="1"/>
          <p:nvPr/>
        </p:nvSpPr>
        <p:spPr>
          <a:xfrm>
            <a:off x="4507435" y="64234"/>
            <a:ext cx="25268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System Boundary</a:t>
            </a:r>
            <a:endParaRPr lang="en-MY" sz="160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909EB3A-F9F1-419F-0C97-248A10B26903}"/>
              </a:ext>
            </a:extLst>
          </p:cNvPr>
          <p:cNvSpPr/>
          <p:nvPr/>
        </p:nvSpPr>
        <p:spPr>
          <a:xfrm>
            <a:off x="4615018" y="505628"/>
            <a:ext cx="1487126" cy="47572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View Real-Time Dashboard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B945E98-CEC6-A7A9-DA9B-2F6931FDD432}"/>
              </a:ext>
            </a:extLst>
          </p:cNvPr>
          <p:cNvSpPr/>
          <p:nvPr/>
        </p:nvSpPr>
        <p:spPr>
          <a:xfrm>
            <a:off x="4615018" y="1104838"/>
            <a:ext cx="1552102" cy="47572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View NILM Results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E63D8D9-B996-42C8-C35B-DF29893080D8}"/>
              </a:ext>
            </a:extLst>
          </p:cNvPr>
          <p:cNvSpPr/>
          <p:nvPr/>
        </p:nvSpPr>
        <p:spPr>
          <a:xfrm>
            <a:off x="4615018" y="1739153"/>
            <a:ext cx="1552102" cy="47572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Monitor Appliance Status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66BA41D-F557-71A5-56CC-D4EE43007A18}"/>
              </a:ext>
            </a:extLst>
          </p:cNvPr>
          <p:cNvSpPr/>
          <p:nvPr/>
        </p:nvSpPr>
        <p:spPr>
          <a:xfrm>
            <a:off x="4615018" y="2372040"/>
            <a:ext cx="1552102" cy="42822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View Energy Saving Metrics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FC13A66-C05B-7707-3494-735A1EA4F502}"/>
              </a:ext>
            </a:extLst>
          </p:cNvPr>
          <p:cNvSpPr/>
          <p:nvPr/>
        </p:nvSpPr>
        <p:spPr>
          <a:xfrm>
            <a:off x="4615018" y="2970882"/>
            <a:ext cx="1623222" cy="4581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View Relay Status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5C0DB7-F344-D6FC-F0DB-C6B2A14A407C}"/>
              </a:ext>
            </a:extLst>
          </p:cNvPr>
          <p:cNvSpPr txBox="1"/>
          <p:nvPr/>
        </p:nvSpPr>
        <p:spPr>
          <a:xfrm>
            <a:off x="2036887" y="2800264"/>
            <a:ext cx="12585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User</a:t>
            </a:r>
            <a:endParaRPr lang="en-MY" sz="120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6AB9B6A-5884-4E55-8464-E0E3F01F4459}"/>
              </a:ext>
            </a:extLst>
          </p:cNvPr>
          <p:cNvSpPr/>
          <p:nvPr/>
        </p:nvSpPr>
        <p:spPr>
          <a:xfrm>
            <a:off x="2094259" y="4090338"/>
            <a:ext cx="412955" cy="4031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CD18395-7B92-ADA2-6A5F-316C22E7483B}"/>
              </a:ext>
            </a:extLst>
          </p:cNvPr>
          <p:cNvCxnSpPr/>
          <p:nvPr/>
        </p:nvCxnSpPr>
        <p:spPr>
          <a:xfrm>
            <a:off x="2094259" y="4640945"/>
            <a:ext cx="41295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57AA865-711B-1EF8-7B3E-AC90F86A0D87}"/>
              </a:ext>
            </a:extLst>
          </p:cNvPr>
          <p:cNvCxnSpPr>
            <a:cxnSpLocks/>
            <a:stCxn id="56" idx="4"/>
          </p:cNvCxnSpPr>
          <p:nvPr/>
        </p:nvCxnSpPr>
        <p:spPr>
          <a:xfrm>
            <a:off x="2300737" y="4493461"/>
            <a:ext cx="0" cy="4031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766C136-57F9-6DCF-6F08-ED8C0D566AB6}"/>
              </a:ext>
            </a:extLst>
          </p:cNvPr>
          <p:cNvCxnSpPr/>
          <p:nvPr/>
        </p:nvCxnSpPr>
        <p:spPr>
          <a:xfrm flipH="1">
            <a:off x="2094259" y="4896584"/>
            <a:ext cx="206478" cy="1769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301AD0D-0902-0D15-8A46-9836EC2988D2}"/>
              </a:ext>
            </a:extLst>
          </p:cNvPr>
          <p:cNvCxnSpPr>
            <a:cxnSpLocks/>
          </p:cNvCxnSpPr>
          <p:nvPr/>
        </p:nvCxnSpPr>
        <p:spPr>
          <a:xfrm>
            <a:off x="2300737" y="4896584"/>
            <a:ext cx="206475" cy="1769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E68FEC2D-D6DB-4A8E-F766-27BD1E6D32A3}"/>
              </a:ext>
            </a:extLst>
          </p:cNvPr>
          <p:cNvSpPr/>
          <p:nvPr/>
        </p:nvSpPr>
        <p:spPr>
          <a:xfrm>
            <a:off x="4615018" y="4219602"/>
            <a:ext cx="1623222" cy="47840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Evaluate NILM Performance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50AD42B8-870D-F3C4-F667-16E567DFA949}"/>
              </a:ext>
            </a:extLst>
          </p:cNvPr>
          <p:cNvSpPr/>
          <p:nvPr/>
        </p:nvSpPr>
        <p:spPr>
          <a:xfrm>
            <a:off x="4615018" y="4844683"/>
            <a:ext cx="1694342" cy="47840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Monitor System Operation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06C1A9E-F240-6421-75C1-4D422B13CF12}"/>
              </a:ext>
            </a:extLst>
          </p:cNvPr>
          <p:cNvSpPr/>
          <p:nvPr/>
        </p:nvSpPr>
        <p:spPr>
          <a:xfrm>
            <a:off x="4615018" y="5479186"/>
            <a:ext cx="1694342" cy="43416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Test Appliance Control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58653E9-FA78-E769-8BEC-3108446D1343}"/>
              </a:ext>
            </a:extLst>
          </p:cNvPr>
          <p:cNvSpPr txBox="1"/>
          <p:nvPr/>
        </p:nvSpPr>
        <p:spPr>
          <a:xfrm>
            <a:off x="1872301" y="5184589"/>
            <a:ext cx="12585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200" dirty="0"/>
              <a:t>Researcher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7ED4D2C-D9A9-89E3-FF1F-2FA2B7F75187}"/>
              </a:ext>
            </a:extLst>
          </p:cNvPr>
          <p:cNvCxnSpPr>
            <a:cxnSpLocks/>
            <a:endCxn id="63" idx="2"/>
          </p:cNvCxnSpPr>
          <p:nvPr/>
        </p:nvCxnSpPr>
        <p:spPr>
          <a:xfrm>
            <a:off x="2838371" y="4616491"/>
            <a:ext cx="1776647" cy="10797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B523D10-C566-F2FE-3053-BB1E17FC7870}"/>
              </a:ext>
            </a:extLst>
          </p:cNvPr>
          <p:cNvCxnSpPr>
            <a:cxnSpLocks/>
            <a:endCxn id="69" idx="2"/>
          </p:cNvCxnSpPr>
          <p:nvPr/>
        </p:nvCxnSpPr>
        <p:spPr>
          <a:xfrm flipV="1">
            <a:off x="2838371" y="3824301"/>
            <a:ext cx="1776647" cy="78117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EACF57F-E721-6E41-A578-250EF8DC9664}"/>
              </a:ext>
            </a:extLst>
          </p:cNvPr>
          <p:cNvCxnSpPr>
            <a:cxnSpLocks/>
          </p:cNvCxnSpPr>
          <p:nvPr/>
        </p:nvCxnSpPr>
        <p:spPr>
          <a:xfrm flipV="1">
            <a:off x="2719191" y="772161"/>
            <a:ext cx="1895827" cy="14339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BE174F7F-76BD-0701-9C02-11D3622E8886}"/>
              </a:ext>
            </a:extLst>
          </p:cNvPr>
          <p:cNvSpPr/>
          <p:nvPr/>
        </p:nvSpPr>
        <p:spPr>
          <a:xfrm>
            <a:off x="4615018" y="3585098"/>
            <a:ext cx="1623222" cy="47840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Configure Priority Rules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50A96AC6-9E2E-A7C5-C709-B3A4BB44B631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2719191" y="1342701"/>
            <a:ext cx="1895827" cy="8721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33223729-D514-F4B5-69C4-62547C90865B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2708046" y="1977016"/>
            <a:ext cx="1906972" cy="2378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EE80445-0E21-1726-7F1C-4D1423E12464}"/>
              </a:ext>
            </a:extLst>
          </p:cNvPr>
          <p:cNvCxnSpPr>
            <a:cxnSpLocks/>
            <a:endCxn id="29" idx="2"/>
          </p:cNvCxnSpPr>
          <p:nvPr/>
        </p:nvCxnSpPr>
        <p:spPr>
          <a:xfrm>
            <a:off x="2728223" y="2214879"/>
            <a:ext cx="1886795" cy="3712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CB3DB57-B7A3-CE99-367B-674C849F047F}"/>
              </a:ext>
            </a:extLst>
          </p:cNvPr>
          <p:cNvCxnSpPr>
            <a:cxnSpLocks/>
            <a:endCxn id="30" idx="2"/>
          </p:cNvCxnSpPr>
          <p:nvPr/>
        </p:nvCxnSpPr>
        <p:spPr>
          <a:xfrm>
            <a:off x="2719191" y="2214879"/>
            <a:ext cx="1895827" cy="98506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83B344DA-F112-62B9-62C4-A4CF8EA74CA9}"/>
              </a:ext>
            </a:extLst>
          </p:cNvPr>
          <p:cNvCxnSpPr>
            <a:cxnSpLocks/>
            <a:endCxn id="61" idx="2"/>
          </p:cNvCxnSpPr>
          <p:nvPr/>
        </p:nvCxnSpPr>
        <p:spPr>
          <a:xfrm flipV="1">
            <a:off x="2838371" y="4458805"/>
            <a:ext cx="1776647" cy="1540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059BC8F0-0064-01C6-CEB3-BCC49A38F8AB}"/>
              </a:ext>
            </a:extLst>
          </p:cNvPr>
          <p:cNvCxnSpPr>
            <a:cxnSpLocks/>
            <a:endCxn id="62" idx="2"/>
          </p:cNvCxnSpPr>
          <p:nvPr/>
        </p:nvCxnSpPr>
        <p:spPr>
          <a:xfrm>
            <a:off x="2838371" y="4615624"/>
            <a:ext cx="1776647" cy="46826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466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827F8-9155-9B78-E544-307D3EABF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9375B8B1-2D39-5619-BC26-D7C6BE789D1E}"/>
              </a:ext>
            </a:extLst>
          </p:cNvPr>
          <p:cNvSpPr/>
          <p:nvPr/>
        </p:nvSpPr>
        <p:spPr>
          <a:xfrm>
            <a:off x="2027900" y="2800264"/>
            <a:ext cx="412955" cy="4031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B7569D7-8088-9D28-00C9-F26E03D67353}"/>
              </a:ext>
            </a:extLst>
          </p:cNvPr>
          <p:cNvCxnSpPr/>
          <p:nvPr/>
        </p:nvCxnSpPr>
        <p:spPr>
          <a:xfrm>
            <a:off x="2027900" y="3350871"/>
            <a:ext cx="41295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7D6D87C-7EFC-E66F-0869-5462243BF20B}"/>
              </a:ext>
            </a:extLst>
          </p:cNvPr>
          <p:cNvCxnSpPr>
            <a:cxnSpLocks/>
            <a:stCxn id="14" idx="4"/>
          </p:cNvCxnSpPr>
          <p:nvPr/>
        </p:nvCxnSpPr>
        <p:spPr>
          <a:xfrm>
            <a:off x="2234378" y="3203387"/>
            <a:ext cx="0" cy="4031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7058318-333D-0E99-5FF6-1416D7054059}"/>
              </a:ext>
            </a:extLst>
          </p:cNvPr>
          <p:cNvCxnSpPr/>
          <p:nvPr/>
        </p:nvCxnSpPr>
        <p:spPr>
          <a:xfrm flipH="1">
            <a:off x="2027900" y="3606510"/>
            <a:ext cx="206478" cy="1769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DDE6251-9B6F-D4CF-3F7B-61CB34D7D86A}"/>
              </a:ext>
            </a:extLst>
          </p:cNvPr>
          <p:cNvCxnSpPr>
            <a:cxnSpLocks/>
          </p:cNvCxnSpPr>
          <p:nvPr/>
        </p:nvCxnSpPr>
        <p:spPr>
          <a:xfrm>
            <a:off x="2234378" y="3606510"/>
            <a:ext cx="206475" cy="1769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00A3528-EC89-10B2-51CA-291EAACBA613}"/>
              </a:ext>
            </a:extLst>
          </p:cNvPr>
          <p:cNvSpPr/>
          <p:nvPr/>
        </p:nvSpPr>
        <p:spPr>
          <a:xfrm>
            <a:off x="3008671" y="955040"/>
            <a:ext cx="4741244" cy="46329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769B0F-75E0-E129-FFB7-930EAA6F3CB2}"/>
              </a:ext>
            </a:extLst>
          </p:cNvPr>
          <p:cNvSpPr txBox="1"/>
          <p:nvPr/>
        </p:nvSpPr>
        <p:spPr>
          <a:xfrm>
            <a:off x="4389121" y="555062"/>
            <a:ext cx="2526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System Boundary</a:t>
            </a:r>
            <a:endParaRPr lang="en-MY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9A49B79-F4BC-51A0-69A2-415E72CD5A05}"/>
              </a:ext>
            </a:extLst>
          </p:cNvPr>
          <p:cNvSpPr/>
          <p:nvPr/>
        </p:nvSpPr>
        <p:spPr>
          <a:xfrm>
            <a:off x="4156580" y="1474001"/>
            <a:ext cx="2438400" cy="7374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/>
              <a:t>Train Seq2Point Model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A6CEFE9-BEA6-E357-B804-53E4970EC75D}"/>
              </a:ext>
            </a:extLst>
          </p:cNvPr>
          <p:cNvSpPr/>
          <p:nvPr/>
        </p:nvSpPr>
        <p:spPr>
          <a:xfrm>
            <a:off x="4109884" y="2426731"/>
            <a:ext cx="2438400" cy="7374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/>
              <a:t>Train Classifier Model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417BEB0-13D5-B64B-31B5-4E046A057E5C}"/>
              </a:ext>
            </a:extLst>
          </p:cNvPr>
          <p:cNvSpPr/>
          <p:nvPr/>
        </p:nvSpPr>
        <p:spPr>
          <a:xfrm>
            <a:off x="4146745" y="3357414"/>
            <a:ext cx="2438400" cy="7374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/>
              <a:t>Deploy Models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95CD593-497A-73D8-6BDD-22CAD7164B00}"/>
              </a:ext>
            </a:extLst>
          </p:cNvPr>
          <p:cNvSpPr/>
          <p:nvPr/>
        </p:nvSpPr>
        <p:spPr>
          <a:xfrm>
            <a:off x="4213115" y="4341754"/>
            <a:ext cx="2438400" cy="7374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/>
              <a:t>Maintain IoT Platform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264128E-5C9A-70F6-B227-4B12C5B97CC2}"/>
              </a:ext>
            </a:extLst>
          </p:cNvPr>
          <p:cNvSpPr txBox="1"/>
          <p:nvPr/>
        </p:nvSpPr>
        <p:spPr>
          <a:xfrm>
            <a:off x="1598046" y="3814136"/>
            <a:ext cx="149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200" dirty="0"/>
              <a:t>System Developer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E146884-4684-EEB1-C877-69F4AF25749D}"/>
              </a:ext>
            </a:extLst>
          </p:cNvPr>
          <p:cNvCxnSpPr>
            <a:cxnSpLocks/>
            <a:endCxn id="30" idx="2"/>
          </p:cNvCxnSpPr>
          <p:nvPr/>
        </p:nvCxnSpPr>
        <p:spPr>
          <a:xfrm>
            <a:off x="2659618" y="3348368"/>
            <a:ext cx="1553497" cy="13620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237B6B2-DBD4-BB13-0A0C-69937FFB4D7B}"/>
              </a:ext>
            </a:extLst>
          </p:cNvPr>
          <p:cNvCxnSpPr>
            <a:cxnSpLocks/>
          </p:cNvCxnSpPr>
          <p:nvPr/>
        </p:nvCxnSpPr>
        <p:spPr>
          <a:xfrm>
            <a:off x="2686051" y="3355972"/>
            <a:ext cx="1470529" cy="3612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3B997DF-6004-1FF7-902B-B3528E6665AF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2659620" y="1842710"/>
            <a:ext cx="1496960" cy="15133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6A413EC-19BA-F659-31C8-C554A4EA7EB0}"/>
              </a:ext>
            </a:extLst>
          </p:cNvPr>
          <p:cNvCxnSpPr>
            <a:cxnSpLocks/>
          </p:cNvCxnSpPr>
          <p:nvPr/>
        </p:nvCxnSpPr>
        <p:spPr>
          <a:xfrm flipV="1">
            <a:off x="2659620" y="2807003"/>
            <a:ext cx="1462553" cy="549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280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D27C6A-0B6E-2D87-8D65-7C3844910D8B}"/>
              </a:ext>
            </a:extLst>
          </p:cNvPr>
          <p:cNvSpPr/>
          <p:nvPr/>
        </p:nvSpPr>
        <p:spPr>
          <a:xfrm>
            <a:off x="530575" y="205183"/>
            <a:ext cx="1061883" cy="4031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User</a:t>
            </a:r>
            <a:endParaRPr lang="en-MY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8A0892-C3ED-B94B-189C-A96A270FDC6F}"/>
              </a:ext>
            </a:extLst>
          </p:cNvPr>
          <p:cNvSpPr/>
          <p:nvPr/>
        </p:nvSpPr>
        <p:spPr>
          <a:xfrm>
            <a:off x="2023926" y="194382"/>
            <a:ext cx="1061883" cy="4031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ESP32</a:t>
            </a:r>
            <a:endParaRPr lang="en-MY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202EB2-3FC9-6F55-B481-0670B6F9486E}"/>
              </a:ext>
            </a:extLst>
          </p:cNvPr>
          <p:cNvSpPr/>
          <p:nvPr/>
        </p:nvSpPr>
        <p:spPr>
          <a:xfrm>
            <a:off x="3440636" y="195125"/>
            <a:ext cx="1061883" cy="4031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MQTT Broker</a:t>
            </a:r>
            <a:endParaRPr lang="en-MY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E74E7A-E936-3D2D-CA32-D48D595E9C73}"/>
              </a:ext>
            </a:extLst>
          </p:cNvPr>
          <p:cNvSpPr/>
          <p:nvPr/>
        </p:nvSpPr>
        <p:spPr>
          <a:xfrm>
            <a:off x="4900333" y="194382"/>
            <a:ext cx="1061883" cy="4031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/>
              <a:t>Node-RED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E0F155-E85C-36A6-8C25-88282B5779B2}"/>
              </a:ext>
            </a:extLst>
          </p:cNvPr>
          <p:cNvSpPr/>
          <p:nvPr/>
        </p:nvSpPr>
        <p:spPr>
          <a:xfrm>
            <a:off x="6380647" y="185518"/>
            <a:ext cx="1061883" cy="4031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/>
              <a:t>Seq2Point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E593B9-D853-1874-B245-EB6CF5154C7C}"/>
              </a:ext>
            </a:extLst>
          </p:cNvPr>
          <p:cNvSpPr/>
          <p:nvPr/>
        </p:nvSpPr>
        <p:spPr>
          <a:xfrm>
            <a:off x="7817535" y="174718"/>
            <a:ext cx="1061883" cy="4115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/>
              <a:t>Classifier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112C86E-6753-5D26-F07E-478BDFF5826F}"/>
              </a:ext>
            </a:extLst>
          </p:cNvPr>
          <p:cNvCxnSpPr>
            <a:cxnSpLocks/>
          </p:cNvCxnSpPr>
          <p:nvPr/>
        </p:nvCxnSpPr>
        <p:spPr>
          <a:xfrm>
            <a:off x="1061517" y="597504"/>
            <a:ext cx="9833" cy="56643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D6DB36A-A0A3-B08E-D3DE-01823F77C98B}"/>
              </a:ext>
            </a:extLst>
          </p:cNvPr>
          <p:cNvCxnSpPr>
            <a:cxnSpLocks/>
          </p:cNvCxnSpPr>
          <p:nvPr/>
        </p:nvCxnSpPr>
        <p:spPr>
          <a:xfrm flipH="1">
            <a:off x="2501903" y="597504"/>
            <a:ext cx="12328" cy="56479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B0BCE39-9B95-CB37-F85F-F8CE7F207BCA}"/>
              </a:ext>
            </a:extLst>
          </p:cNvPr>
          <p:cNvCxnSpPr>
            <a:cxnSpLocks/>
          </p:cNvCxnSpPr>
          <p:nvPr/>
        </p:nvCxnSpPr>
        <p:spPr>
          <a:xfrm>
            <a:off x="3965559" y="597504"/>
            <a:ext cx="18494" cy="56402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6330E65-0D98-757F-57F0-2069534BAC35}"/>
              </a:ext>
            </a:extLst>
          </p:cNvPr>
          <p:cNvCxnSpPr>
            <a:cxnSpLocks/>
          </p:cNvCxnSpPr>
          <p:nvPr/>
        </p:nvCxnSpPr>
        <p:spPr>
          <a:xfrm flipH="1">
            <a:off x="5394176" y="586266"/>
            <a:ext cx="13263" cy="5629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F9A2D14-C432-A462-92CB-DEABE5AFF59C}"/>
              </a:ext>
            </a:extLst>
          </p:cNvPr>
          <p:cNvCxnSpPr>
            <a:cxnSpLocks/>
          </p:cNvCxnSpPr>
          <p:nvPr/>
        </p:nvCxnSpPr>
        <p:spPr>
          <a:xfrm>
            <a:off x="6911588" y="577841"/>
            <a:ext cx="12414" cy="56598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866D4BC-2BAA-F541-1DB2-CCCB32795867}"/>
              </a:ext>
            </a:extLst>
          </p:cNvPr>
          <p:cNvCxnSpPr>
            <a:cxnSpLocks/>
            <a:stCxn id="50" idx="2"/>
          </p:cNvCxnSpPr>
          <p:nvPr/>
        </p:nvCxnSpPr>
        <p:spPr>
          <a:xfrm flipH="1">
            <a:off x="9795697" y="586266"/>
            <a:ext cx="1" cy="56244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7070B35-2AB4-1B19-EB35-966809528800}"/>
              </a:ext>
            </a:extLst>
          </p:cNvPr>
          <p:cNvCxnSpPr>
            <a:cxnSpLocks/>
          </p:cNvCxnSpPr>
          <p:nvPr/>
        </p:nvCxnSpPr>
        <p:spPr>
          <a:xfrm>
            <a:off x="5418861" y="2465384"/>
            <a:ext cx="29601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B5C3521-81E2-BF5F-A0A8-2772AD212C06}"/>
              </a:ext>
            </a:extLst>
          </p:cNvPr>
          <p:cNvCxnSpPr>
            <a:cxnSpLocks/>
          </p:cNvCxnSpPr>
          <p:nvPr/>
        </p:nvCxnSpPr>
        <p:spPr>
          <a:xfrm>
            <a:off x="3965559" y="1429610"/>
            <a:ext cx="14533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D0CB1C0-2196-E1EE-49B4-25DE44550CCE}"/>
              </a:ext>
            </a:extLst>
          </p:cNvPr>
          <p:cNvCxnSpPr>
            <a:cxnSpLocks/>
          </p:cNvCxnSpPr>
          <p:nvPr/>
        </p:nvCxnSpPr>
        <p:spPr>
          <a:xfrm flipV="1">
            <a:off x="5428070" y="1707356"/>
            <a:ext cx="1487324" cy="10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EF8F68B-C66C-B7B7-A406-DEB7F60E37EB}"/>
              </a:ext>
            </a:extLst>
          </p:cNvPr>
          <p:cNvCxnSpPr>
            <a:cxnSpLocks/>
          </p:cNvCxnSpPr>
          <p:nvPr/>
        </p:nvCxnSpPr>
        <p:spPr>
          <a:xfrm flipH="1">
            <a:off x="5418861" y="2165577"/>
            <a:ext cx="14889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DB8D92C-C08F-0DB3-D909-56C2E565EDCB}"/>
              </a:ext>
            </a:extLst>
          </p:cNvPr>
          <p:cNvCxnSpPr>
            <a:cxnSpLocks/>
          </p:cNvCxnSpPr>
          <p:nvPr/>
        </p:nvCxnSpPr>
        <p:spPr>
          <a:xfrm>
            <a:off x="3984053" y="4245115"/>
            <a:ext cx="58099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1EB0B7F-2202-676A-CF86-59503D5C0216}"/>
              </a:ext>
            </a:extLst>
          </p:cNvPr>
          <p:cNvSpPr txBox="1"/>
          <p:nvPr/>
        </p:nvSpPr>
        <p:spPr>
          <a:xfrm>
            <a:off x="2396260" y="923401"/>
            <a:ext cx="16590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900" dirty="0"/>
              <a:t>Aggregate Power Data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33DCCDA-187C-C827-2A32-8B070E5FBA76}"/>
              </a:ext>
            </a:extLst>
          </p:cNvPr>
          <p:cNvSpPr/>
          <p:nvPr/>
        </p:nvSpPr>
        <p:spPr>
          <a:xfrm>
            <a:off x="9264756" y="183144"/>
            <a:ext cx="1061883" cy="4031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 err="1"/>
              <a:t>InfluxDB</a:t>
            </a:r>
            <a:endParaRPr lang="en-MY" sz="12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45CD6EE-0F51-82BD-9A83-20335F6E0671}"/>
              </a:ext>
            </a:extLst>
          </p:cNvPr>
          <p:cNvSpPr/>
          <p:nvPr/>
        </p:nvSpPr>
        <p:spPr>
          <a:xfrm>
            <a:off x="10701644" y="174719"/>
            <a:ext cx="1061883" cy="4031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/>
              <a:t>Relay ESP32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6157A3F-376B-D4D6-A25D-D30811560DDD}"/>
              </a:ext>
            </a:extLst>
          </p:cNvPr>
          <p:cNvCxnSpPr>
            <a:cxnSpLocks/>
          </p:cNvCxnSpPr>
          <p:nvPr/>
        </p:nvCxnSpPr>
        <p:spPr>
          <a:xfrm flipH="1">
            <a:off x="8371799" y="597504"/>
            <a:ext cx="3554" cy="56402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46F2DB9-C3B5-29AA-F301-F24CEC83DE73}"/>
              </a:ext>
            </a:extLst>
          </p:cNvPr>
          <p:cNvCxnSpPr>
            <a:cxnSpLocks/>
          </p:cNvCxnSpPr>
          <p:nvPr/>
        </p:nvCxnSpPr>
        <p:spPr>
          <a:xfrm>
            <a:off x="11232585" y="577841"/>
            <a:ext cx="7814" cy="56479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153EED80-824D-8A5A-D31C-F5D417DA0827}"/>
              </a:ext>
            </a:extLst>
          </p:cNvPr>
          <p:cNvSpPr txBox="1"/>
          <p:nvPr/>
        </p:nvSpPr>
        <p:spPr>
          <a:xfrm>
            <a:off x="1263148" y="661039"/>
            <a:ext cx="137651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900" dirty="0"/>
              <a:t>Open Dashboard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AF82FA3-E38A-9226-DD6C-0CF92BD3E861}"/>
              </a:ext>
            </a:extLst>
          </p:cNvPr>
          <p:cNvSpPr txBox="1"/>
          <p:nvPr/>
        </p:nvSpPr>
        <p:spPr>
          <a:xfrm>
            <a:off x="3834099" y="1145092"/>
            <a:ext cx="16590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900" dirty="0"/>
              <a:t>Forward Data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6E4D936-66BC-BED4-8146-F88D5C2251B4}"/>
              </a:ext>
            </a:extLst>
          </p:cNvPr>
          <p:cNvSpPr txBox="1"/>
          <p:nvPr/>
        </p:nvSpPr>
        <p:spPr>
          <a:xfrm>
            <a:off x="5329546" y="1424565"/>
            <a:ext cx="16590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900" dirty="0"/>
              <a:t>Buffer 599 Samples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2E4D91F-3400-FA76-8F63-BEB617CD1B08}"/>
              </a:ext>
            </a:extLst>
          </p:cNvPr>
          <p:cNvSpPr/>
          <p:nvPr/>
        </p:nvSpPr>
        <p:spPr>
          <a:xfrm>
            <a:off x="6716673" y="1860906"/>
            <a:ext cx="1826371" cy="1553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900" dirty="0"/>
              <a:t>Power Prediction 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A295286-BBE0-6BDF-7983-7358989AED38}"/>
              </a:ext>
            </a:extLst>
          </p:cNvPr>
          <p:cNvSpPr/>
          <p:nvPr/>
        </p:nvSpPr>
        <p:spPr>
          <a:xfrm>
            <a:off x="8222914" y="2553862"/>
            <a:ext cx="1801542" cy="1637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900" dirty="0"/>
              <a:t>ON/OFF Status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C87F225B-1BF5-BBEF-D77B-AC505D262C84}"/>
              </a:ext>
            </a:extLst>
          </p:cNvPr>
          <p:cNvCxnSpPr>
            <a:cxnSpLocks/>
          </p:cNvCxnSpPr>
          <p:nvPr/>
        </p:nvCxnSpPr>
        <p:spPr>
          <a:xfrm flipH="1">
            <a:off x="5428070" y="2789581"/>
            <a:ext cx="29483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710ECAD9-C55B-B0F3-4CE7-67C739BE9C8C}"/>
              </a:ext>
            </a:extLst>
          </p:cNvPr>
          <p:cNvSpPr txBox="1"/>
          <p:nvPr/>
        </p:nvSpPr>
        <p:spPr>
          <a:xfrm>
            <a:off x="8676672" y="4415927"/>
            <a:ext cx="81308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900" dirty="0"/>
              <a:t>Lamp OFF </a:t>
            </a:r>
          </a:p>
          <a:p>
            <a:r>
              <a:rPr lang="en-MY" sz="900" dirty="0"/>
              <a:t>Laptop OFF</a:t>
            </a:r>
          </a:p>
          <a:p>
            <a:r>
              <a:rPr lang="en-MY" sz="900" dirty="0"/>
              <a:t>(if needed)  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A2513EEC-09BF-6E9E-34BD-C2256531CF78}"/>
              </a:ext>
            </a:extLst>
          </p:cNvPr>
          <p:cNvCxnSpPr>
            <a:cxnSpLocks/>
          </p:cNvCxnSpPr>
          <p:nvPr/>
        </p:nvCxnSpPr>
        <p:spPr>
          <a:xfrm>
            <a:off x="1061516" y="928115"/>
            <a:ext cx="14403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3B79A2D0-924E-50CF-B4C3-A21FDC90ED6D}"/>
              </a:ext>
            </a:extLst>
          </p:cNvPr>
          <p:cNvCxnSpPr>
            <a:cxnSpLocks/>
          </p:cNvCxnSpPr>
          <p:nvPr/>
        </p:nvCxnSpPr>
        <p:spPr>
          <a:xfrm>
            <a:off x="5393268" y="5169296"/>
            <a:ext cx="15145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672D1A17-BF7B-66BB-0B05-578F28E72788}"/>
              </a:ext>
            </a:extLst>
          </p:cNvPr>
          <p:cNvCxnSpPr>
            <a:cxnSpLocks/>
          </p:cNvCxnSpPr>
          <p:nvPr/>
        </p:nvCxnSpPr>
        <p:spPr>
          <a:xfrm flipH="1">
            <a:off x="5400635" y="4925174"/>
            <a:ext cx="4384092" cy="3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FE46407F-8851-1FB6-DB88-5F50367FEED6}"/>
              </a:ext>
            </a:extLst>
          </p:cNvPr>
          <p:cNvSpPr txBox="1"/>
          <p:nvPr/>
        </p:nvSpPr>
        <p:spPr>
          <a:xfrm>
            <a:off x="5296439" y="4935829"/>
            <a:ext cx="1659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800" dirty="0"/>
              <a:t>Relay Status Update</a:t>
            </a: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45BE2C57-9181-377E-8E0E-DAF767CC8355}"/>
              </a:ext>
            </a:extLst>
          </p:cNvPr>
          <p:cNvCxnSpPr>
            <a:cxnSpLocks/>
          </p:cNvCxnSpPr>
          <p:nvPr/>
        </p:nvCxnSpPr>
        <p:spPr>
          <a:xfrm>
            <a:off x="2275210" y="5553413"/>
            <a:ext cx="75204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5E57F853-9A75-1BF1-A8C6-1A5631008EBB}"/>
              </a:ext>
            </a:extLst>
          </p:cNvPr>
          <p:cNvSpPr txBox="1"/>
          <p:nvPr/>
        </p:nvSpPr>
        <p:spPr>
          <a:xfrm>
            <a:off x="918618" y="5479256"/>
            <a:ext cx="1659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800" dirty="0"/>
              <a:t>Dashboard Query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21347A73-2084-D739-D88C-29911CF34E1C}"/>
              </a:ext>
            </a:extLst>
          </p:cNvPr>
          <p:cNvCxnSpPr>
            <a:cxnSpLocks/>
          </p:cNvCxnSpPr>
          <p:nvPr/>
        </p:nvCxnSpPr>
        <p:spPr>
          <a:xfrm flipH="1">
            <a:off x="1061516" y="5830670"/>
            <a:ext cx="4446233" cy="17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262CD75-159B-B846-D6E4-2F35245C4541}"/>
              </a:ext>
            </a:extLst>
          </p:cNvPr>
          <p:cNvCxnSpPr>
            <a:cxnSpLocks/>
          </p:cNvCxnSpPr>
          <p:nvPr/>
        </p:nvCxnSpPr>
        <p:spPr>
          <a:xfrm>
            <a:off x="2514231" y="1214521"/>
            <a:ext cx="14403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141523BF-F76F-DC69-24D8-816D320A16E9}"/>
              </a:ext>
            </a:extLst>
          </p:cNvPr>
          <p:cNvSpPr txBox="1"/>
          <p:nvPr/>
        </p:nvSpPr>
        <p:spPr>
          <a:xfrm>
            <a:off x="5339450" y="2211849"/>
            <a:ext cx="16590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900" dirty="0"/>
              <a:t>Send Window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366A15D-39A7-6275-CD86-FE8852678332}"/>
              </a:ext>
            </a:extLst>
          </p:cNvPr>
          <p:cNvSpPr/>
          <p:nvPr/>
        </p:nvSpPr>
        <p:spPr>
          <a:xfrm>
            <a:off x="4941605" y="3264677"/>
            <a:ext cx="2327422" cy="4325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900" dirty="0"/>
              <a:t>Priority Management Logic </a:t>
            </a:r>
          </a:p>
          <a:p>
            <a:pPr algn="ctr"/>
            <a:r>
              <a:rPr lang="en-MY" sz="900" dirty="0"/>
              <a:t>Check Total Power &gt; 2200W ? 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1B8AA431-A9B4-595A-78BC-5879025384A0}"/>
              </a:ext>
            </a:extLst>
          </p:cNvPr>
          <p:cNvSpPr/>
          <p:nvPr/>
        </p:nvSpPr>
        <p:spPr>
          <a:xfrm>
            <a:off x="4943523" y="3788681"/>
            <a:ext cx="2343784" cy="1761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900" dirty="0"/>
              <a:t>MQTT Control Command</a:t>
            </a: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46FC4B8D-999E-E6EB-C1DD-540F31B3B371}"/>
              </a:ext>
            </a:extLst>
          </p:cNvPr>
          <p:cNvCxnSpPr>
            <a:cxnSpLocks/>
          </p:cNvCxnSpPr>
          <p:nvPr/>
        </p:nvCxnSpPr>
        <p:spPr>
          <a:xfrm flipH="1">
            <a:off x="3984053" y="4045353"/>
            <a:ext cx="14233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00508221-A0DE-4189-ADDB-B65994862686}"/>
              </a:ext>
            </a:extLst>
          </p:cNvPr>
          <p:cNvSpPr txBox="1"/>
          <p:nvPr/>
        </p:nvSpPr>
        <p:spPr>
          <a:xfrm>
            <a:off x="8428151" y="4225687"/>
            <a:ext cx="22779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Execute Relay Action</a:t>
            </a:r>
            <a:endParaRPr lang="en-MY" sz="900" dirty="0"/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91A2C50B-FC41-7217-3726-4CC03314DBFB}"/>
              </a:ext>
            </a:extLst>
          </p:cNvPr>
          <p:cNvCxnSpPr>
            <a:cxnSpLocks/>
          </p:cNvCxnSpPr>
          <p:nvPr/>
        </p:nvCxnSpPr>
        <p:spPr>
          <a:xfrm>
            <a:off x="3984053" y="4429294"/>
            <a:ext cx="72577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6D0A6B43-8A92-5BB1-7042-A3CBEC1945C8}"/>
              </a:ext>
            </a:extLst>
          </p:cNvPr>
          <p:cNvCxnSpPr>
            <a:cxnSpLocks/>
          </p:cNvCxnSpPr>
          <p:nvPr/>
        </p:nvCxnSpPr>
        <p:spPr>
          <a:xfrm flipV="1">
            <a:off x="5399478" y="5382214"/>
            <a:ext cx="4407190" cy="299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0EA0135E-62B7-61B4-C102-D0252FE29A9D}"/>
              </a:ext>
            </a:extLst>
          </p:cNvPr>
          <p:cNvSpPr txBox="1"/>
          <p:nvPr/>
        </p:nvSpPr>
        <p:spPr>
          <a:xfrm>
            <a:off x="5360939" y="5193575"/>
            <a:ext cx="1659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800" dirty="0"/>
              <a:t>Save Updated Relay Status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2310F822-0E84-1E69-0B6B-A63A3C66B93E}"/>
              </a:ext>
            </a:extLst>
          </p:cNvPr>
          <p:cNvSpPr/>
          <p:nvPr/>
        </p:nvSpPr>
        <p:spPr>
          <a:xfrm>
            <a:off x="5521581" y="5694701"/>
            <a:ext cx="4346830" cy="2297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900" dirty="0"/>
              <a:t>Appliance Status / NILM Results / Relay Status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C26AC24C-EC25-C3A1-7957-382E82CCA949}"/>
              </a:ext>
            </a:extLst>
          </p:cNvPr>
          <p:cNvSpPr/>
          <p:nvPr/>
        </p:nvSpPr>
        <p:spPr>
          <a:xfrm>
            <a:off x="519633" y="6225781"/>
            <a:ext cx="1061883" cy="4031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User</a:t>
            </a:r>
            <a:endParaRPr lang="en-MY" sz="1200" dirty="0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208B692A-23EA-1F90-D4C9-6CFF608F8C6D}"/>
              </a:ext>
            </a:extLst>
          </p:cNvPr>
          <p:cNvSpPr/>
          <p:nvPr/>
        </p:nvSpPr>
        <p:spPr>
          <a:xfrm>
            <a:off x="1966310" y="6227801"/>
            <a:ext cx="1061883" cy="4031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ESP32</a:t>
            </a:r>
            <a:endParaRPr lang="en-MY" sz="1200" dirty="0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DD8D7B4B-B8B6-5A78-102F-223632BEF0DD}"/>
              </a:ext>
            </a:extLst>
          </p:cNvPr>
          <p:cNvSpPr/>
          <p:nvPr/>
        </p:nvSpPr>
        <p:spPr>
          <a:xfrm>
            <a:off x="3431117" y="6232846"/>
            <a:ext cx="1061883" cy="4031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MQTT Broker</a:t>
            </a:r>
            <a:endParaRPr lang="en-MY" sz="1200" dirty="0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94719AE6-B529-548D-73EC-220E02D8C989}"/>
              </a:ext>
            </a:extLst>
          </p:cNvPr>
          <p:cNvSpPr/>
          <p:nvPr/>
        </p:nvSpPr>
        <p:spPr>
          <a:xfrm>
            <a:off x="4851461" y="6209688"/>
            <a:ext cx="1061883" cy="4031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/>
              <a:t>Node-RED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E3C5EED2-220A-6F2C-2D7C-B544ED48EB7D}"/>
              </a:ext>
            </a:extLst>
          </p:cNvPr>
          <p:cNvSpPr/>
          <p:nvPr/>
        </p:nvSpPr>
        <p:spPr>
          <a:xfrm>
            <a:off x="6392240" y="6231462"/>
            <a:ext cx="1061883" cy="4031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/>
              <a:t>Seq2Point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0F70570D-3D66-4A15-AE4F-23151430B5B7}"/>
              </a:ext>
            </a:extLst>
          </p:cNvPr>
          <p:cNvSpPr/>
          <p:nvPr/>
        </p:nvSpPr>
        <p:spPr>
          <a:xfrm>
            <a:off x="7848309" y="6219375"/>
            <a:ext cx="1061883" cy="4115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/>
              <a:t>Classifier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F1BBD420-AFED-78FD-FF88-7F5219BB825B}"/>
              </a:ext>
            </a:extLst>
          </p:cNvPr>
          <p:cNvSpPr/>
          <p:nvPr/>
        </p:nvSpPr>
        <p:spPr>
          <a:xfrm>
            <a:off x="9264756" y="6229843"/>
            <a:ext cx="1061883" cy="4031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 err="1"/>
              <a:t>InfluxDB</a:t>
            </a:r>
            <a:endParaRPr lang="en-MY" sz="1200" dirty="0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B8AEFBF3-D8B6-CE3E-F768-62704C6A6335}"/>
              </a:ext>
            </a:extLst>
          </p:cNvPr>
          <p:cNvSpPr/>
          <p:nvPr/>
        </p:nvSpPr>
        <p:spPr>
          <a:xfrm>
            <a:off x="10681203" y="6219375"/>
            <a:ext cx="1061883" cy="4031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/>
              <a:t>Relay ESP32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F8F60F05-5DF3-EEC5-CAF0-9399E5A72CAF}"/>
              </a:ext>
            </a:extLst>
          </p:cNvPr>
          <p:cNvSpPr/>
          <p:nvPr/>
        </p:nvSpPr>
        <p:spPr>
          <a:xfrm>
            <a:off x="4936980" y="2900294"/>
            <a:ext cx="2323867" cy="1470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900" dirty="0"/>
              <a:t>Save Results (Raw + NILM + Relay Status) </a:t>
            </a: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1F97352E-0D43-0FE1-2D41-A8CAF601FD0F}"/>
              </a:ext>
            </a:extLst>
          </p:cNvPr>
          <p:cNvCxnSpPr>
            <a:cxnSpLocks/>
          </p:cNvCxnSpPr>
          <p:nvPr/>
        </p:nvCxnSpPr>
        <p:spPr>
          <a:xfrm>
            <a:off x="5407439" y="3153074"/>
            <a:ext cx="15170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12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CE393F6-EF08-51B4-45B5-056D12AEACBD}"/>
              </a:ext>
            </a:extLst>
          </p:cNvPr>
          <p:cNvSpPr/>
          <p:nvPr/>
        </p:nvSpPr>
        <p:spPr>
          <a:xfrm>
            <a:off x="2293691" y="411992"/>
            <a:ext cx="353961" cy="36379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D8F0873-388F-1E53-638D-9E69F2319561}"/>
              </a:ext>
            </a:extLst>
          </p:cNvPr>
          <p:cNvSpPr/>
          <p:nvPr/>
        </p:nvSpPr>
        <p:spPr>
          <a:xfrm>
            <a:off x="1122745" y="1022231"/>
            <a:ext cx="2695854" cy="20619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Read Voltage and Current Sensors (ESP32)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F6483E1-66BC-B92A-74B3-4B97355771A2}"/>
              </a:ext>
            </a:extLst>
          </p:cNvPr>
          <p:cNvSpPr/>
          <p:nvPr/>
        </p:nvSpPr>
        <p:spPr>
          <a:xfrm>
            <a:off x="1383770" y="1444692"/>
            <a:ext cx="2259119" cy="17304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Calculate Aggregate Power</a:t>
            </a:r>
          </a:p>
        </p:txBody>
      </p:sp>
      <p:sp>
        <p:nvSpPr>
          <p:cNvPr id="7" name="Flowchart: Decision 6">
            <a:extLst>
              <a:ext uri="{FF2B5EF4-FFF2-40B4-BE49-F238E27FC236}">
                <a16:creationId xmlns:a16="http://schemas.microsoft.com/office/drawing/2014/main" id="{DAAFBD27-8A47-4C5D-052A-557680F6ECA6}"/>
              </a:ext>
            </a:extLst>
          </p:cNvPr>
          <p:cNvSpPr/>
          <p:nvPr/>
        </p:nvSpPr>
        <p:spPr>
          <a:xfrm>
            <a:off x="1763018" y="2668591"/>
            <a:ext cx="1392708" cy="816003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900" dirty="0"/>
              <a:t>Buffer 599 Samples Available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476206C-53C2-0B53-2514-9DF2441A4AF3}"/>
              </a:ext>
            </a:extLst>
          </p:cNvPr>
          <p:cNvSpPr/>
          <p:nvPr/>
        </p:nvSpPr>
        <p:spPr>
          <a:xfrm>
            <a:off x="5209837" y="2299112"/>
            <a:ext cx="1902541" cy="2187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Turn OFF Lamp</a:t>
            </a:r>
          </a:p>
        </p:txBody>
      </p:sp>
      <p:sp>
        <p:nvSpPr>
          <p:cNvPr id="15" name="Flowchart: Decision 14">
            <a:extLst>
              <a:ext uri="{FF2B5EF4-FFF2-40B4-BE49-F238E27FC236}">
                <a16:creationId xmlns:a16="http://schemas.microsoft.com/office/drawing/2014/main" id="{D332A6DB-192B-9A32-6225-82E524D7DA2D}"/>
              </a:ext>
            </a:extLst>
          </p:cNvPr>
          <p:cNvSpPr/>
          <p:nvPr/>
        </p:nvSpPr>
        <p:spPr>
          <a:xfrm>
            <a:off x="5464208" y="2738993"/>
            <a:ext cx="1393797" cy="613807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Power Still &gt;2200W</a:t>
            </a:r>
          </a:p>
        </p:txBody>
      </p:sp>
      <p:sp>
        <p:nvSpPr>
          <p:cNvPr id="20" name="Flowchart: Decision 19">
            <a:extLst>
              <a:ext uri="{FF2B5EF4-FFF2-40B4-BE49-F238E27FC236}">
                <a16:creationId xmlns:a16="http://schemas.microsoft.com/office/drawing/2014/main" id="{4120FB33-8839-F1B7-0DF3-A96405604A60}"/>
              </a:ext>
            </a:extLst>
          </p:cNvPr>
          <p:cNvSpPr/>
          <p:nvPr/>
        </p:nvSpPr>
        <p:spPr>
          <a:xfrm>
            <a:off x="5442194" y="1454526"/>
            <a:ext cx="1396141" cy="664327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Total Power &gt; 2200W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E64ADB3-2FE1-04CD-79CD-22D9C54F44AA}"/>
              </a:ext>
            </a:extLst>
          </p:cNvPr>
          <p:cNvCxnSpPr>
            <a:cxnSpLocks/>
            <a:stCxn id="2" idx="4"/>
            <a:endCxn id="3" idx="0"/>
          </p:cNvCxnSpPr>
          <p:nvPr/>
        </p:nvCxnSpPr>
        <p:spPr>
          <a:xfrm>
            <a:off x="2470672" y="775786"/>
            <a:ext cx="0" cy="2464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3BC74D5-0BD5-A7DC-9D2F-45E7B32A2FB6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2470672" y="1228426"/>
            <a:ext cx="0" cy="220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68862F8-9967-DA3B-4323-2C2ED4C8A233}"/>
              </a:ext>
            </a:extLst>
          </p:cNvPr>
          <p:cNvCxnSpPr>
            <a:cxnSpLocks/>
          </p:cNvCxnSpPr>
          <p:nvPr/>
        </p:nvCxnSpPr>
        <p:spPr>
          <a:xfrm>
            <a:off x="6131604" y="1228426"/>
            <a:ext cx="0" cy="2162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9B22963-FB3A-6887-8481-92D08E15DA84}"/>
              </a:ext>
            </a:extLst>
          </p:cNvPr>
          <p:cNvCxnSpPr>
            <a:cxnSpLocks/>
          </p:cNvCxnSpPr>
          <p:nvPr/>
        </p:nvCxnSpPr>
        <p:spPr>
          <a:xfrm>
            <a:off x="2445314" y="6162337"/>
            <a:ext cx="207190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6ABF4DB-B299-664F-7792-84FA9901ED32}"/>
              </a:ext>
            </a:extLst>
          </p:cNvPr>
          <p:cNvCxnSpPr>
            <a:cxnSpLocks/>
          </p:cNvCxnSpPr>
          <p:nvPr/>
        </p:nvCxnSpPr>
        <p:spPr>
          <a:xfrm flipV="1">
            <a:off x="4517222" y="1228426"/>
            <a:ext cx="0" cy="493391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9882795-1722-ADC2-F115-04ACD69BCA9D}"/>
              </a:ext>
            </a:extLst>
          </p:cNvPr>
          <p:cNvCxnSpPr>
            <a:cxnSpLocks/>
          </p:cNvCxnSpPr>
          <p:nvPr/>
        </p:nvCxnSpPr>
        <p:spPr>
          <a:xfrm>
            <a:off x="4504147" y="1228426"/>
            <a:ext cx="163364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C403AAA-D019-B1EB-DDF8-F991C29B6BE9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155726" y="3076593"/>
            <a:ext cx="85277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5716497-D6E6-40D2-3381-A84916802C29}"/>
              </a:ext>
            </a:extLst>
          </p:cNvPr>
          <p:cNvCxnSpPr>
            <a:cxnSpLocks/>
          </p:cNvCxnSpPr>
          <p:nvPr/>
        </p:nvCxnSpPr>
        <p:spPr>
          <a:xfrm flipV="1">
            <a:off x="4015953" y="1187248"/>
            <a:ext cx="1" cy="19036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B4FABC7-13F5-7B07-5D69-F0BB53976442}"/>
              </a:ext>
            </a:extLst>
          </p:cNvPr>
          <p:cNvCxnSpPr>
            <a:cxnSpLocks/>
          </p:cNvCxnSpPr>
          <p:nvPr/>
        </p:nvCxnSpPr>
        <p:spPr>
          <a:xfrm flipH="1">
            <a:off x="3818599" y="1187248"/>
            <a:ext cx="1973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37A179EB-05C0-F869-0357-826ED03A185D}"/>
              </a:ext>
            </a:extLst>
          </p:cNvPr>
          <p:cNvCxnSpPr>
            <a:cxnSpLocks/>
            <a:stCxn id="3" idx="3"/>
            <a:endCxn id="3" idx="3"/>
          </p:cNvCxnSpPr>
          <p:nvPr/>
        </p:nvCxnSpPr>
        <p:spPr>
          <a:xfrm>
            <a:off x="3818599" y="1125329"/>
            <a:ext cx="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49F27416-1D4D-40DE-3B8D-47A4E99620DB}"/>
              </a:ext>
            </a:extLst>
          </p:cNvPr>
          <p:cNvSpPr/>
          <p:nvPr/>
        </p:nvSpPr>
        <p:spPr>
          <a:xfrm>
            <a:off x="1377277" y="1838939"/>
            <a:ext cx="2259119" cy="19589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Publish Data via MQTT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3D11108-7A4E-441A-F58E-7AC3A79F09C6}"/>
              </a:ext>
            </a:extLst>
          </p:cNvPr>
          <p:cNvCxnSpPr>
            <a:cxnSpLocks/>
          </p:cNvCxnSpPr>
          <p:nvPr/>
        </p:nvCxnSpPr>
        <p:spPr>
          <a:xfrm>
            <a:off x="2465208" y="1611435"/>
            <a:ext cx="0" cy="220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50F3062C-D0FA-EC88-A930-17E155C0991E}"/>
              </a:ext>
            </a:extLst>
          </p:cNvPr>
          <p:cNvSpPr/>
          <p:nvPr/>
        </p:nvSpPr>
        <p:spPr>
          <a:xfrm>
            <a:off x="1361590" y="2234428"/>
            <a:ext cx="2259127" cy="19501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Node-RED Receives Data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C6D9EF7-7FFC-E5FD-B873-823442A4315D}"/>
              </a:ext>
            </a:extLst>
          </p:cNvPr>
          <p:cNvCxnSpPr>
            <a:cxnSpLocks/>
          </p:cNvCxnSpPr>
          <p:nvPr/>
        </p:nvCxnSpPr>
        <p:spPr>
          <a:xfrm>
            <a:off x="2485222" y="2008544"/>
            <a:ext cx="0" cy="220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D468B74C-2168-80F4-3308-EEBF14E3ECF5}"/>
              </a:ext>
            </a:extLst>
          </p:cNvPr>
          <p:cNvCxnSpPr>
            <a:cxnSpLocks/>
          </p:cNvCxnSpPr>
          <p:nvPr/>
        </p:nvCxnSpPr>
        <p:spPr>
          <a:xfrm>
            <a:off x="2470672" y="2456593"/>
            <a:ext cx="0" cy="220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5F9615BC-8633-A04F-D506-293A02178314}"/>
              </a:ext>
            </a:extLst>
          </p:cNvPr>
          <p:cNvSpPr/>
          <p:nvPr/>
        </p:nvSpPr>
        <p:spPr>
          <a:xfrm>
            <a:off x="5247969" y="4043621"/>
            <a:ext cx="1950510" cy="23083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Send MQTT Control Command</a:t>
            </a: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4D292438-8BE4-EDFE-A6C8-A878D96542C7}"/>
              </a:ext>
            </a:extLst>
          </p:cNvPr>
          <p:cNvSpPr/>
          <p:nvPr/>
        </p:nvSpPr>
        <p:spPr>
          <a:xfrm>
            <a:off x="1349466" y="4138085"/>
            <a:ext cx="2199980" cy="21851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Estimate Appliance Power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5F118551-8E45-E3B8-04EE-64F1FC1BDFB7}"/>
              </a:ext>
            </a:extLst>
          </p:cNvPr>
          <p:cNvSpPr/>
          <p:nvPr/>
        </p:nvSpPr>
        <p:spPr>
          <a:xfrm>
            <a:off x="1364521" y="4584334"/>
            <a:ext cx="2181968" cy="1637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Run Appliance Classifier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C66C7CE3-203E-2C51-49CE-C96FE5E1B7B1}"/>
              </a:ext>
            </a:extLst>
          </p:cNvPr>
          <p:cNvCxnSpPr>
            <a:cxnSpLocks/>
          </p:cNvCxnSpPr>
          <p:nvPr/>
        </p:nvCxnSpPr>
        <p:spPr>
          <a:xfrm>
            <a:off x="2453916" y="4341204"/>
            <a:ext cx="0" cy="220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54524685-D1B7-5CE6-41D3-2FEA37E1A4F6}"/>
              </a:ext>
            </a:extLst>
          </p:cNvPr>
          <p:cNvCxnSpPr>
            <a:cxnSpLocks/>
          </p:cNvCxnSpPr>
          <p:nvPr/>
        </p:nvCxnSpPr>
        <p:spPr>
          <a:xfrm>
            <a:off x="2445314" y="3910347"/>
            <a:ext cx="8602" cy="2292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D8195AE3-F501-3597-DBD3-B995055B15C2}"/>
              </a:ext>
            </a:extLst>
          </p:cNvPr>
          <p:cNvSpPr/>
          <p:nvPr/>
        </p:nvSpPr>
        <p:spPr>
          <a:xfrm>
            <a:off x="1346509" y="4989362"/>
            <a:ext cx="2274208" cy="1866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Determine Appliance ON/OFF Status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76B4E70E-9A94-7375-2115-7C08E3B74AD2}"/>
              </a:ext>
            </a:extLst>
          </p:cNvPr>
          <p:cNvSpPr/>
          <p:nvPr/>
        </p:nvSpPr>
        <p:spPr>
          <a:xfrm>
            <a:off x="1360533" y="5379143"/>
            <a:ext cx="2188912" cy="1892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Store Results in </a:t>
            </a:r>
            <a:r>
              <a:rPr lang="en-MY" sz="1000" dirty="0" err="1"/>
              <a:t>InfluxDB</a:t>
            </a:r>
            <a:endParaRPr lang="en-MY" sz="1000" dirty="0"/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7B5F8353-B612-1AED-19FB-2329D95CABDA}"/>
              </a:ext>
            </a:extLst>
          </p:cNvPr>
          <p:cNvCxnSpPr>
            <a:cxnSpLocks/>
            <a:endCxn id="115" idx="0"/>
          </p:cNvCxnSpPr>
          <p:nvPr/>
        </p:nvCxnSpPr>
        <p:spPr>
          <a:xfrm>
            <a:off x="2452682" y="5176024"/>
            <a:ext cx="2307" cy="2031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1E496C80-1DDA-FEC6-BFA1-4C032C2F8B51}"/>
              </a:ext>
            </a:extLst>
          </p:cNvPr>
          <p:cNvCxnSpPr>
            <a:cxnSpLocks/>
          </p:cNvCxnSpPr>
          <p:nvPr/>
        </p:nvCxnSpPr>
        <p:spPr>
          <a:xfrm>
            <a:off x="2465208" y="4755170"/>
            <a:ext cx="0" cy="220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C90F15D8-5E41-E682-B00D-067040001301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2454989" y="5568414"/>
            <a:ext cx="7529" cy="2031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67F49110-3E28-1682-584C-3BF59FC25941}"/>
              </a:ext>
            </a:extLst>
          </p:cNvPr>
          <p:cNvSpPr/>
          <p:nvPr/>
        </p:nvSpPr>
        <p:spPr>
          <a:xfrm>
            <a:off x="1355920" y="5771533"/>
            <a:ext cx="2193525" cy="18926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Update Grafana Dashboard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BBEA31E5-40AC-52E9-B374-EA22662D4F37}"/>
              </a:ext>
            </a:extLst>
          </p:cNvPr>
          <p:cNvCxnSpPr>
            <a:cxnSpLocks/>
            <a:endCxn id="125" idx="2"/>
          </p:cNvCxnSpPr>
          <p:nvPr/>
        </p:nvCxnSpPr>
        <p:spPr>
          <a:xfrm flipV="1">
            <a:off x="2452682" y="5960794"/>
            <a:ext cx="1" cy="20154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613FFAE9-F1AE-81B1-8300-9D8D689EFC8A}"/>
              </a:ext>
            </a:extLst>
          </p:cNvPr>
          <p:cNvCxnSpPr>
            <a:cxnSpLocks/>
          </p:cNvCxnSpPr>
          <p:nvPr/>
        </p:nvCxnSpPr>
        <p:spPr>
          <a:xfrm>
            <a:off x="2445314" y="3484594"/>
            <a:ext cx="0" cy="220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14FB2A40-F63D-4596-6EC2-83489A852F5A}"/>
              </a:ext>
            </a:extLst>
          </p:cNvPr>
          <p:cNvSpPr/>
          <p:nvPr/>
        </p:nvSpPr>
        <p:spPr>
          <a:xfrm>
            <a:off x="1334725" y="3738702"/>
            <a:ext cx="2199980" cy="163534"/>
          </a:xfrm>
          <a:prstGeom prst="roundRect">
            <a:avLst>
              <a:gd name="adj" fmla="val 2291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Run Seq2Point NILM Model</a:t>
            </a:r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E3AFD0BC-C94A-3FED-E7B2-1E15A2BB3A7F}"/>
              </a:ext>
            </a:extLst>
          </p:cNvPr>
          <p:cNvCxnSpPr>
            <a:cxnSpLocks/>
          </p:cNvCxnSpPr>
          <p:nvPr/>
        </p:nvCxnSpPr>
        <p:spPr>
          <a:xfrm>
            <a:off x="6145162" y="2118853"/>
            <a:ext cx="8881" cy="1832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63EC61BD-548B-57BD-5261-A6DBAE33E5DD}"/>
              </a:ext>
            </a:extLst>
          </p:cNvPr>
          <p:cNvCxnSpPr>
            <a:cxnSpLocks/>
          </p:cNvCxnSpPr>
          <p:nvPr/>
        </p:nvCxnSpPr>
        <p:spPr>
          <a:xfrm>
            <a:off x="6161107" y="2518375"/>
            <a:ext cx="0" cy="220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C795EC8A-CF13-8070-E8CE-689A036FF555}"/>
              </a:ext>
            </a:extLst>
          </p:cNvPr>
          <p:cNvCxnSpPr>
            <a:cxnSpLocks/>
          </p:cNvCxnSpPr>
          <p:nvPr/>
        </p:nvCxnSpPr>
        <p:spPr>
          <a:xfrm>
            <a:off x="6161107" y="3352800"/>
            <a:ext cx="0" cy="220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2A00AD27-0B11-CCF2-A57A-581C52A11716}"/>
              </a:ext>
            </a:extLst>
          </p:cNvPr>
          <p:cNvSpPr/>
          <p:nvPr/>
        </p:nvSpPr>
        <p:spPr>
          <a:xfrm>
            <a:off x="5247969" y="3568510"/>
            <a:ext cx="1902541" cy="21322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Turn OFF Laptop</a:t>
            </a: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6155A761-CDE7-3272-790A-ADDFE5EC387C}"/>
              </a:ext>
            </a:extLst>
          </p:cNvPr>
          <p:cNvCxnSpPr>
            <a:cxnSpLocks/>
            <a:endCxn id="83" idx="3"/>
          </p:cNvCxnSpPr>
          <p:nvPr/>
        </p:nvCxnSpPr>
        <p:spPr>
          <a:xfrm flipH="1">
            <a:off x="7198479" y="4159036"/>
            <a:ext cx="137743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011A6EFC-F865-0CA2-7D85-839DF4315135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6838335" y="1786689"/>
            <a:ext cx="173862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DC84E1C1-9FE3-FFDD-8956-931D3E9CF856}"/>
              </a:ext>
            </a:extLst>
          </p:cNvPr>
          <p:cNvCxnSpPr>
            <a:cxnSpLocks/>
          </p:cNvCxnSpPr>
          <p:nvPr/>
        </p:nvCxnSpPr>
        <p:spPr>
          <a:xfrm flipV="1">
            <a:off x="8562258" y="1771691"/>
            <a:ext cx="0" cy="23873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C05536D7-5500-1ECE-A328-21B71EFE5560}"/>
              </a:ext>
            </a:extLst>
          </p:cNvPr>
          <p:cNvCxnSpPr>
            <a:cxnSpLocks/>
          </p:cNvCxnSpPr>
          <p:nvPr/>
        </p:nvCxnSpPr>
        <p:spPr>
          <a:xfrm>
            <a:off x="6183542" y="3781732"/>
            <a:ext cx="0" cy="220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5E32B48A-795A-B0A4-8754-DC00EBC135C5}"/>
              </a:ext>
            </a:extLst>
          </p:cNvPr>
          <p:cNvSpPr txBox="1"/>
          <p:nvPr/>
        </p:nvSpPr>
        <p:spPr>
          <a:xfrm>
            <a:off x="5539396" y="2060018"/>
            <a:ext cx="16590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900" dirty="0"/>
              <a:t>Yes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119AAE0B-F43E-D92B-FC9E-25DB16D0E1CB}"/>
              </a:ext>
            </a:extLst>
          </p:cNvPr>
          <p:cNvSpPr txBox="1"/>
          <p:nvPr/>
        </p:nvSpPr>
        <p:spPr>
          <a:xfrm>
            <a:off x="1894213" y="3443961"/>
            <a:ext cx="16590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900" dirty="0"/>
              <a:t>Yes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20442096-A2C2-19BE-DB4D-E51F5004C6CD}"/>
              </a:ext>
            </a:extLst>
          </p:cNvPr>
          <p:cNvSpPr txBox="1"/>
          <p:nvPr/>
        </p:nvSpPr>
        <p:spPr>
          <a:xfrm>
            <a:off x="5568796" y="2551094"/>
            <a:ext cx="16590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900" dirty="0"/>
              <a:t>Yes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5F5EF6F3-938B-56C4-9071-EA9A1555A1B5}"/>
              </a:ext>
            </a:extLst>
          </p:cNvPr>
          <p:cNvSpPr txBox="1"/>
          <p:nvPr/>
        </p:nvSpPr>
        <p:spPr>
          <a:xfrm>
            <a:off x="6823340" y="1566254"/>
            <a:ext cx="16590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900" dirty="0"/>
              <a:t>No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4A2F4057-4767-446D-EBC9-32C8E92CDD0D}"/>
              </a:ext>
            </a:extLst>
          </p:cNvPr>
          <p:cNvSpPr txBox="1"/>
          <p:nvPr/>
        </p:nvSpPr>
        <p:spPr>
          <a:xfrm>
            <a:off x="6875574" y="2809406"/>
            <a:ext cx="16590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900" dirty="0"/>
              <a:t>No</a:t>
            </a:r>
          </a:p>
        </p:txBody>
      </p: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E4116FB8-1CC7-0B7F-6566-130476A2F20F}"/>
              </a:ext>
            </a:extLst>
          </p:cNvPr>
          <p:cNvCxnSpPr>
            <a:cxnSpLocks/>
          </p:cNvCxnSpPr>
          <p:nvPr/>
        </p:nvCxnSpPr>
        <p:spPr>
          <a:xfrm>
            <a:off x="6867735" y="3038515"/>
            <a:ext cx="1694523" cy="73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8F440A25-2868-75F0-1FA7-BB4941023A84}"/>
              </a:ext>
            </a:extLst>
          </p:cNvPr>
          <p:cNvCxnSpPr>
            <a:cxnSpLocks/>
          </p:cNvCxnSpPr>
          <p:nvPr/>
        </p:nvCxnSpPr>
        <p:spPr>
          <a:xfrm>
            <a:off x="7192083" y="4639754"/>
            <a:ext cx="181533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7395269C-2D06-0726-3DB7-16C3EB8F60E6}"/>
              </a:ext>
            </a:extLst>
          </p:cNvPr>
          <p:cNvCxnSpPr>
            <a:cxnSpLocks/>
          </p:cNvCxnSpPr>
          <p:nvPr/>
        </p:nvCxnSpPr>
        <p:spPr>
          <a:xfrm flipV="1">
            <a:off x="9007422" y="1107353"/>
            <a:ext cx="0" cy="35324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0AC2FD12-BCA4-1FB6-0512-5F3A86ABCC6B}"/>
              </a:ext>
            </a:extLst>
          </p:cNvPr>
          <p:cNvCxnSpPr>
            <a:cxnSpLocks/>
          </p:cNvCxnSpPr>
          <p:nvPr/>
        </p:nvCxnSpPr>
        <p:spPr>
          <a:xfrm flipH="1" flipV="1">
            <a:off x="3818475" y="1107353"/>
            <a:ext cx="5180745" cy="107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055849FC-6C7F-A1B6-6BD7-21F51284573A}"/>
              </a:ext>
            </a:extLst>
          </p:cNvPr>
          <p:cNvSpPr txBox="1"/>
          <p:nvPr/>
        </p:nvSpPr>
        <p:spPr>
          <a:xfrm>
            <a:off x="2746899" y="2860037"/>
            <a:ext cx="16590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900" dirty="0"/>
              <a:t>No</a:t>
            </a:r>
          </a:p>
        </p:txBody>
      </p:sp>
      <p:sp>
        <p:nvSpPr>
          <p:cNvPr id="232" name="Rectangle: Rounded Corners 231">
            <a:extLst>
              <a:ext uri="{FF2B5EF4-FFF2-40B4-BE49-F238E27FC236}">
                <a16:creationId xmlns:a16="http://schemas.microsoft.com/office/drawing/2014/main" id="{35E0302D-BD70-B40F-A574-F130896A705F}"/>
              </a:ext>
            </a:extLst>
          </p:cNvPr>
          <p:cNvSpPr/>
          <p:nvPr/>
        </p:nvSpPr>
        <p:spPr>
          <a:xfrm>
            <a:off x="5247969" y="4524339"/>
            <a:ext cx="1950510" cy="23083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Update Relay Status</a:t>
            </a:r>
          </a:p>
        </p:txBody>
      </p: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26B014BB-7CBB-7ACD-7BAF-86DFD6F7C73F}"/>
              </a:ext>
            </a:extLst>
          </p:cNvPr>
          <p:cNvCxnSpPr>
            <a:cxnSpLocks/>
          </p:cNvCxnSpPr>
          <p:nvPr/>
        </p:nvCxnSpPr>
        <p:spPr>
          <a:xfrm>
            <a:off x="6183542" y="4274452"/>
            <a:ext cx="0" cy="220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8175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86C426-3789-28D0-E3E1-D86CFB778C2A}"/>
              </a:ext>
            </a:extLst>
          </p:cNvPr>
          <p:cNvSpPr/>
          <p:nvPr/>
        </p:nvSpPr>
        <p:spPr>
          <a:xfrm>
            <a:off x="4480395" y="546164"/>
            <a:ext cx="1944159" cy="5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SCT-013 Current Sensor</a:t>
            </a:r>
          </a:p>
          <a:p>
            <a:pPr algn="ctr"/>
            <a:r>
              <a:rPr lang="en-MY" sz="1000" dirty="0"/>
              <a:t>ZMPT101B Voltage Sensor</a:t>
            </a:r>
          </a:p>
          <a:p>
            <a:pPr algn="ctr"/>
            <a:r>
              <a:rPr lang="en-MY" sz="1000" dirty="0"/>
              <a:t>Power Calculation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580BAA-5777-B78A-E6F9-3B20078A2D91}"/>
              </a:ext>
            </a:extLst>
          </p:cNvPr>
          <p:cNvSpPr/>
          <p:nvPr/>
        </p:nvSpPr>
        <p:spPr>
          <a:xfrm>
            <a:off x="4480395" y="1370396"/>
            <a:ext cx="1944157" cy="2643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Mosquitto</a:t>
            </a:r>
            <a:r>
              <a:rPr lang="en-US" sz="1000" dirty="0"/>
              <a:t> Broker</a:t>
            </a:r>
            <a:endParaRPr lang="en-MY" sz="1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9BEE54-C6D4-F6E9-5A5B-6C165A68C34A}"/>
              </a:ext>
            </a:extLst>
          </p:cNvPr>
          <p:cNvSpPr/>
          <p:nvPr/>
        </p:nvSpPr>
        <p:spPr>
          <a:xfrm>
            <a:off x="4475399" y="2041511"/>
            <a:ext cx="1964773" cy="4027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Data Processing</a:t>
            </a:r>
          </a:p>
          <a:p>
            <a:pPr algn="ctr"/>
            <a:r>
              <a:rPr lang="en-MY" sz="1000" dirty="0"/>
              <a:t>Priority Logic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30EA20F-211F-E58E-04A6-9BE69D328F7B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 flipH="1">
            <a:off x="5452474" y="1085156"/>
            <a:ext cx="1" cy="285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FDF5606-66A7-79F8-87D4-C582B8D3CBF6}"/>
              </a:ext>
            </a:extLst>
          </p:cNvPr>
          <p:cNvCxnSpPr>
            <a:cxnSpLocks/>
          </p:cNvCxnSpPr>
          <p:nvPr/>
        </p:nvCxnSpPr>
        <p:spPr>
          <a:xfrm>
            <a:off x="5452473" y="1636077"/>
            <a:ext cx="0" cy="2346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080AB2C-CB68-CBB5-E118-18F71F737C28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5457784" y="2444300"/>
            <a:ext cx="2" cy="7838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A41B3F33-53BC-8322-615F-D955DF18D5DA}"/>
              </a:ext>
            </a:extLst>
          </p:cNvPr>
          <p:cNvSpPr/>
          <p:nvPr/>
        </p:nvSpPr>
        <p:spPr>
          <a:xfrm>
            <a:off x="4480395" y="366628"/>
            <a:ext cx="1944158" cy="1994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ESP32 Sensor Node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5886FD9-BBBA-B7F5-3848-6B4423190B60}"/>
              </a:ext>
            </a:extLst>
          </p:cNvPr>
          <p:cNvSpPr/>
          <p:nvPr/>
        </p:nvSpPr>
        <p:spPr>
          <a:xfrm>
            <a:off x="4475398" y="1870776"/>
            <a:ext cx="1964773" cy="1994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Node-RED Engine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842A4C6-77A8-B577-B053-5A9C8AA32373}"/>
              </a:ext>
            </a:extLst>
          </p:cNvPr>
          <p:cNvCxnSpPr>
            <a:cxnSpLocks/>
          </p:cNvCxnSpPr>
          <p:nvPr/>
        </p:nvCxnSpPr>
        <p:spPr>
          <a:xfrm flipH="1">
            <a:off x="3632331" y="2628900"/>
            <a:ext cx="365410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312C94D-6A68-B4DC-556A-5667DE5F86D7}"/>
              </a:ext>
            </a:extLst>
          </p:cNvPr>
          <p:cNvCxnSpPr>
            <a:cxnSpLocks/>
          </p:cNvCxnSpPr>
          <p:nvPr/>
        </p:nvCxnSpPr>
        <p:spPr>
          <a:xfrm>
            <a:off x="4570586" y="3218423"/>
            <a:ext cx="0" cy="2239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8CE35077-67C6-8A21-99DD-B69D6E7D352E}"/>
              </a:ext>
            </a:extLst>
          </p:cNvPr>
          <p:cNvSpPr/>
          <p:nvPr/>
        </p:nvSpPr>
        <p:spPr>
          <a:xfrm>
            <a:off x="2922705" y="2829058"/>
            <a:ext cx="1419251" cy="2012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Seq2Point Model 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4F6C812-DC49-04E4-1633-A38230B7FB17}"/>
              </a:ext>
            </a:extLst>
          </p:cNvPr>
          <p:cNvSpPr/>
          <p:nvPr/>
        </p:nvSpPr>
        <p:spPr>
          <a:xfrm>
            <a:off x="4759407" y="2826146"/>
            <a:ext cx="1419251" cy="2236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Classifier Model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A5CFE11A-6647-AC87-C74E-D24443A769DA}"/>
              </a:ext>
            </a:extLst>
          </p:cNvPr>
          <p:cNvCxnSpPr>
            <a:cxnSpLocks/>
            <a:stCxn id="66" idx="0"/>
          </p:cNvCxnSpPr>
          <p:nvPr/>
        </p:nvCxnSpPr>
        <p:spPr>
          <a:xfrm flipH="1" flipV="1">
            <a:off x="3629921" y="2615051"/>
            <a:ext cx="2410" cy="2140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7716981-C693-2807-87E5-429335F4E432}"/>
              </a:ext>
            </a:extLst>
          </p:cNvPr>
          <p:cNvCxnSpPr>
            <a:cxnSpLocks/>
          </p:cNvCxnSpPr>
          <p:nvPr/>
        </p:nvCxnSpPr>
        <p:spPr>
          <a:xfrm flipV="1">
            <a:off x="7286438" y="2635010"/>
            <a:ext cx="0" cy="1970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B9EDC55-0E79-CC0C-2AB4-7FAAFAE5C15E}"/>
              </a:ext>
            </a:extLst>
          </p:cNvPr>
          <p:cNvCxnSpPr>
            <a:cxnSpLocks/>
          </p:cNvCxnSpPr>
          <p:nvPr/>
        </p:nvCxnSpPr>
        <p:spPr>
          <a:xfrm flipH="1">
            <a:off x="3635455" y="3218423"/>
            <a:ext cx="18335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4A334D39-3A36-352F-83BA-25A5E4E56132}"/>
              </a:ext>
            </a:extLst>
          </p:cNvPr>
          <p:cNvCxnSpPr>
            <a:cxnSpLocks/>
          </p:cNvCxnSpPr>
          <p:nvPr/>
        </p:nvCxnSpPr>
        <p:spPr>
          <a:xfrm flipV="1">
            <a:off x="3641979" y="3049766"/>
            <a:ext cx="0" cy="18566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FB5FF43B-8117-D8C7-700A-BE530DD0AC24}"/>
              </a:ext>
            </a:extLst>
          </p:cNvPr>
          <p:cNvSpPr/>
          <p:nvPr/>
        </p:nvSpPr>
        <p:spPr>
          <a:xfrm>
            <a:off x="3629922" y="3630087"/>
            <a:ext cx="1964773" cy="5286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Raw Data</a:t>
            </a:r>
          </a:p>
          <a:p>
            <a:pPr algn="ctr"/>
            <a:r>
              <a:rPr lang="en-MY" sz="1000" dirty="0"/>
              <a:t>NILM Results</a:t>
            </a:r>
          </a:p>
          <a:p>
            <a:pPr algn="ctr"/>
            <a:r>
              <a:rPr lang="en-MY" sz="1000" dirty="0"/>
              <a:t>Relay Status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7C98D21-7CE0-4040-1B27-9E845FAD5670}"/>
              </a:ext>
            </a:extLst>
          </p:cNvPr>
          <p:cNvSpPr/>
          <p:nvPr/>
        </p:nvSpPr>
        <p:spPr>
          <a:xfrm>
            <a:off x="3629921" y="3459352"/>
            <a:ext cx="1964773" cy="1994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 err="1"/>
              <a:t>InfluxDB</a:t>
            </a:r>
            <a:endParaRPr lang="en-MY" sz="1000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DA49B4A-C707-573A-CEFB-60898E5D276B}"/>
              </a:ext>
            </a:extLst>
          </p:cNvPr>
          <p:cNvSpPr/>
          <p:nvPr/>
        </p:nvSpPr>
        <p:spPr>
          <a:xfrm>
            <a:off x="3620582" y="4376331"/>
            <a:ext cx="1984420" cy="2445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Grafana Dashboard 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E729F977-A3B9-755D-4F5A-401B3C9D9827}"/>
              </a:ext>
            </a:extLst>
          </p:cNvPr>
          <p:cNvCxnSpPr>
            <a:cxnSpLocks/>
          </p:cNvCxnSpPr>
          <p:nvPr/>
        </p:nvCxnSpPr>
        <p:spPr>
          <a:xfrm>
            <a:off x="4573689" y="4158763"/>
            <a:ext cx="483" cy="2175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28414967-3E83-4DA8-00F3-BB4FCC0F9285}"/>
              </a:ext>
            </a:extLst>
          </p:cNvPr>
          <p:cNvCxnSpPr>
            <a:cxnSpLocks/>
            <a:stCxn id="112" idx="2"/>
          </p:cNvCxnSpPr>
          <p:nvPr/>
        </p:nvCxnSpPr>
        <p:spPr>
          <a:xfrm>
            <a:off x="7294485" y="3059713"/>
            <a:ext cx="0" cy="184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2" name="Rectangle 111">
            <a:extLst>
              <a:ext uri="{FF2B5EF4-FFF2-40B4-BE49-F238E27FC236}">
                <a16:creationId xmlns:a16="http://schemas.microsoft.com/office/drawing/2014/main" id="{A41D31F3-749A-B4A6-BC33-3B91E1E40642}"/>
              </a:ext>
            </a:extLst>
          </p:cNvPr>
          <p:cNvSpPr/>
          <p:nvPr/>
        </p:nvSpPr>
        <p:spPr>
          <a:xfrm>
            <a:off x="6493103" y="2813501"/>
            <a:ext cx="1602763" cy="2462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ESP32 Relay Controller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0D5FC2DD-1C52-2A09-B1FA-D08F6DC0C89B}"/>
              </a:ext>
            </a:extLst>
          </p:cNvPr>
          <p:cNvSpPr/>
          <p:nvPr/>
        </p:nvSpPr>
        <p:spPr>
          <a:xfrm>
            <a:off x="6312099" y="3428268"/>
            <a:ext cx="1964773" cy="6611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Lamp </a:t>
            </a:r>
          </a:p>
          <a:p>
            <a:pPr algn="ctr"/>
            <a:r>
              <a:rPr lang="en-MY" sz="1000" dirty="0"/>
              <a:t>Laptop </a:t>
            </a:r>
          </a:p>
          <a:p>
            <a:pPr algn="ctr"/>
            <a:r>
              <a:rPr lang="en-MY" sz="1000" dirty="0"/>
              <a:t>Kettle </a:t>
            </a:r>
          </a:p>
          <a:p>
            <a:pPr algn="ctr"/>
            <a:r>
              <a:rPr lang="en-MY" sz="1000" dirty="0"/>
              <a:t>Toaster 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303FF4B4-F897-BC92-ED86-648E4306BFA3}"/>
              </a:ext>
            </a:extLst>
          </p:cNvPr>
          <p:cNvSpPr/>
          <p:nvPr/>
        </p:nvSpPr>
        <p:spPr>
          <a:xfrm>
            <a:off x="6312098" y="3257533"/>
            <a:ext cx="1964773" cy="1994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Relay Module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70EB682A-D511-D709-26A9-6E89FBA549C9}"/>
              </a:ext>
            </a:extLst>
          </p:cNvPr>
          <p:cNvSpPr txBox="1"/>
          <p:nvPr/>
        </p:nvSpPr>
        <p:spPr>
          <a:xfrm>
            <a:off x="5476875" y="1120832"/>
            <a:ext cx="19827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000" dirty="0"/>
              <a:t>MQTT Publish</a:t>
            </a:r>
          </a:p>
        </p:txBody>
      </p:sp>
    </p:spTree>
    <p:extLst>
      <p:ext uri="{BB962C8B-B14F-4D97-AF65-F5344CB8AC3E}">
        <p14:creationId xmlns:p14="http://schemas.microsoft.com/office/powerpoint/2010/main" val="2572777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A005AD-7B0F-9B27-A537-C4DC17B4746F}"/>
              </a:ext>
            </a:extLst>
          </p:cNvPr>
          <p:cNvSpPr/>
          <p:nvPr/>
        </p:nvSpPr>
        <p:spPr>
          <a:xfrm>
            <a:off x="4571732" y="551872"/>
            <a:ext cx="3046335" cy="3807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P1: Data Acquisition</a:t>
            </a:r>
          </a:p>
          <a:p>
            <a:pPr algn="ctr"/>
            <a:r>
              <a:rPr lang="en-MY" sz="1000" dirty="0"/>
              <a:t>ESP32 + SCT013 + ZMPT101B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6B271D-D354-992E-906A-A03B641B2603}"/>
              </a:ext>
            </a:extLst>
          </p:cNvPr>
          <p:cNvSpPr/>
          <p:nvPr/>
        </p:nvSpPr>
        <p:spPr>
          <a:xfrm>
            <a:off x="5499903" y="81047"/>
            <a:ext cx="1192193" cy="2442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User</a:t>
            </a:r>
            <a:endParaRPr lang="en-MY" sz="1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F7109B-6E90-601A-8483-9EB068825802}"/>
              </a:ext>
            </a:extLst>
          </p:cNvPr>
          <p:cNvSpPr/>
          <p:nvPr/>
        </p:nvSpPr>
        <p:spPr>
          <a:xfrm>
            <a:off x="4571732" y="1195395"/>
            <a:ext cx="3046339" cy="4525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P2: Data Processing &amp; MQTT Communication </a:t>
            </a:r>
          </a:p>
          <a:p>
            <a:pPr algn="ctr"/>
            <a:r>
              <a:rPr lang="en-MY" sz="1000" dirty="0"/>
              <a:t>(Node-RED -&gt; </a:t>
            </a:r>
            <a:r>
              <a:rPr lang="en-MY" sz="1000" dirty="0" err="1"/>
              <a:t>InfluxDB</a:t>
            </a:r>
            <a:r>
              <a:rPr lang="en-MY" sz="1200" dirty="0"/>
              <a:t>)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4F7435-1870-E873-3A43-22B8341CF3F8}"/>
              </a:ext>
            </a:extLst>
          </p:cNvPr>
          <p:cNvSpPr/>
          <p:nvPr/>
        </p:nvSpPr>
        <p:spPr>
          <a:xfrm>
            <a:off x="3760691" y="4176951"/>
            <a:ext cx="1971913" cy="283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Grafana Dashboard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64F18F-C247-D3F0-D1F5-FD4CA4027593}"/>
              </a:ext>
            </a:extLst>
          </p:cNvPr>
          <p:cNvSpPr txBox="1"/>
          <p:nvPr/>
        </p:nvSpPr>
        <p:spPr>
          <a:xfrm>
            <a:off x="6094899" y="323786"/>
            <a:ext cx="19441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000" dirty="0"/>
              <a:t>View Dashboard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08E646-E674-52CC-C212-CD57891026F0}"/>
              </a:ext>
            </a:extLst>
          </p:cNvPr>
          <p:cNvSpPr txBox="1"/>
          <p:nvPr/>
        </p:nvSpPr>
        <p:spPr>
          <a:xfrm>
            <a:off x="4195255" y="2307348"/>
            <a:ext cx="19441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000" dirty="0"/>
              <a:t>Appliance Power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537AB6-274A-972D-FDBC-B5AA52D107A0}"/>
              </a:ext>
            </a:extLst>
          </p:cNvPr>
          <p:cNvSpPr txBox="1"/>
          <p:nvPr/>
        </p:nvSpPr>
        <p:spPr>
          <a:xfrm>
            <a:off x="6946422" y="2292508"/>
            <a:ext cx="19441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000" dirty="0"/>
              <a:t>ON/OFF Status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7AAE24F-8D64-75BD-A42B-B2E77C96E54B}"/>
              </a:ext>
            </a:extLst>
          </p:cNvPr>
          <p:cNvCxnSpPr>
            <a:cxnSpLocks/>
          </p:cNvCxnSpPr>
          <p:nvPr/>
        </p:nvCxnSpPr>
        <p:spPr>
          <a:xfrm>
            <a:off x="6117895" y="2505879"/>
            <a:ext cx="1307" cy="243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19FD7A2-1899-710C-22BA-F0FBC88BEC7F}"/>
              </a:ext>
            </a:extLst>
          </p:cNvPr>
          <p:cNvCxnSpPr>
            <a:cxnSpLocks/>
          </p:cNvCxnSpPr>
          <p:nvPr/>
        </p:nvCxnSpPr>
        <p:spPr>
          <a:xfrm>
            <a:off x="4746648" y="3877809"/>
            <a:ext cx="0" cy="2801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FB68F86-84FE-FC92-430E-8B6C5D685C09}"/>
              </a:ext>
            </a:extLst>
          </p:cNvPr>
          <p:cNvCxnSpPr>
            <a:cxnSpLocks/>
          </p:cNvCxnSpPr>
          <p:nvPr/>
        </p:nvCxnSpPr>
        <p:spPr>
          <a:xfrm flipH="1">
            <a:off x="6094899" y="319656"/>
            <a:ext cx="1099" cy="237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79EC8E4-5FBD-811F-E498-FAEF764F361E}"/>
              </a:ext>
            </a:extLst>
          </p:cNvPr>
          <p:cNvSpPr txBox="1"/>
          <p:nvPr/>
        </p:nvSpPr>
        <p:spPr>
          <a:xfrm>
            <a:off x="6090782" y="951466"/>
            <a:ext cx="19441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000" dirty="0"/>
              <a:t>Aggregate Power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86543B6-8FD7-75F4-FCB3-60D252CAC356}"/>
              </a:ext>
            </a:extLst>
          </p:cNvPr>
          <p:cNvSpPr/>
          <p:nvPr/>
        </p:nvSpPr>
        <p:spPr>
          <a:xfrm>
            <a:off x="4585646" y="1904319"/>
            <a:ext cx="3046339" cy="3965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P3: Hybrid NILM Engine</a:t>
            </a:r>
          </a:p>
          <a:p>
            <a:pPr algn="ctr"/>
            <a:r>
              <a:rPr lang="en-MY" sz="1000" dirty="0"/>
              <a:t>Seq2Point + Classifier </a:t>
            </a:r>
            <a:endParaRPr lang="en-MY" sz="1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1ADBA4-85EE-AADA-669B-D7C9776B1DA3}"/>
              </a:ext>
            </a:extLst>
          </p:cNvPr>
          <p:cNvSpPr txBox="1"/>
          <p:nvPr/>
        </p:nvSpPr>
        <p:spPr>
          <a:xfrm>
            <a:off x="6090782" y="1636094"/>
            <a:ext cx="19441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000" dirty="0"/>
              <a:t>599 Sample Window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A9A9267-A495-A5FE-40AF-448398B3617C}"/>
              </a:ext>
            </a:extLst>
          </p:cNvPr>
          <p:cNvCxnSpPr>
            <a:cxnSpLocks/>
          </p:cNvCxnSpPr>
          <p:nvPr/>
        </p:nvCxnSpPr>
        <p:spPr>
          <a:xfrm flipV="1">
            <a:off x="5277780" y="2299316"/>
            <a:ext cx="0" cy="1976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4511F53-DC93-DBD2-3D49-262B2EFF72F6}"/>
              </a:ext>
            </a:extLst>
          </p:cNvPr>
          <p:cNvCxnSpPr>
            <a:cxnSpLocks/>
          </p:cNvCxnSpPr>
          <p:nvPr/>
        </p:nvCxnSpPr>
        <p:spPr>
          <a:xfrm flipH="1">
            <a:off x="5273075" y="2497015"/>
            <a:ext cx="169486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2E315F4-73DD-07FB-4077-98115A303907}"/>
              </a:ext>
            </a:extLst>
          </p:cNvPr>
          <p:cNvCxnSpPr>
            <a:cxnSpLocks/>
          </p:cNvCxnSpPr>
          <p:nvPr/>
        </p:nvCxnSpPr>
        <p:spPr>
          <a:xfrm flipV="1">
            <a:off x="6970165" y="2300245"/>
            <a:ext cx="0" cy="1967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E182EC80-C6AE-9B72-3F72-61135FE9B001}"/>
              </a:ext>
            </a:extLst>
          </p:cNvPr>
          <p:cNvSpPr/>
          <p:nvPr/>
        </p:nvSpPr>
        <p:spPr>
          <a:xfrm>
            <a:off x="5177033" y="2914432"/>
            <a:ext cx="1944159" cy="7300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Raw Data</a:t>
            </a:r>
          </a:p>
          <a:p>
            <a:pPr algn="ctr"/>
            <a:r>
              <a:rPr lang="en-MY" sz="1000" dirty="0"/>
              <a:t>NILM Results</a:t>
            </a:r>
          </a:p>
          <a:p>
            <a:pPr algn="ctr"/>
            <a:r>
              <a:rPr lang="en-MY" sz="1000" dirty="0"/>
              <a:t>Relay Status</a:t>
            </a:r>
          </a:p>
          <a:p>
            <a:pPr algn="ctr"/>
            <a:r>
              <a:rPr lang="en-MY" sz="1000" dirty="0"/>
              <a:t>Metrics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9CCA635-662A-F603-254F-1BACF95D5A2F}"/>
              </a:ext>
            </a:extLst>
          </p:cNvPr>
          <p:cNvSpPr/>
          <p:nvPr/>
        </p:nvSpPr>
        <p:spPr>
          <a:xfrm>
            <a:off x="5177033" y="2757295"/>
            <a:ext cx="1944158" cy="1994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D1: </a:t>
            </a:r>
            <a:r>
              <a:rPr lang="en-MY" sz="1000" dirty="0" err="1"/>
              <a:t>InfluxDB</a:t>
            </a:r>
            <a:endParaRPr lang="en-MY" sz="1000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799E3A0-540A-7133-BB0B-2D1CA21078F6}"/>
              </a:ext>
            </a:extLst>
          </p:cNvPr>
          <p:cNvCxnSpPr>
            <a:cxnSpLocks/>
          </p:cNvCxnSpPr>
          <p:nvPr/>
        </p:nvCxnSpPr>
        <p:spPr>
          <a:xfrm flipH="1">
            <a:off x="6094899" y="944715"/>
            <a:ext cx="1099" cy="237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C7C37AD-BDBC-951B-94A6-698034C590A7}"/>
              </a:ext>
            </a:extLst>
          </p:cNvPr>
          <p:cNvCxnSpPr>
            <a:cxnSpLocks/>
          </p:cNvCxnSpPr>
          <p:nvPr/>
        </p:nvCxnSpPr>
        <p:spPr>
          <a:xfrm flipH="1">
            <a:off x="6093800" y="1644365"/>
            <a:ext cx="1099" cy="237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690C55EF-BB24-CAB4-4D17-EF654A4A07C1}"/>
              </a:ext>
            </a:extLst>
          </p:cNvPr>
          <p:cNvSpPr/>
          <p:nvPr/>
        </p:nvSpPr>
        <p:spPr>
          <a:xfrm>
            <a:off x="6094897" y="4195949"/>
            <a:ext cx="3046339" cy="7300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P4: Automated Priority Management Logic</a:t>
            </a:r>
          </a:p>
          <a:p>
            <a:pPr algn="ctr"/>
            <a:r>
              <a:rPr lang="en-MY" sz="1000" dirty="0"/>
              <a:t>&gt;2200W -&gt; OFF Lamp </a:t>
            </a:r>
          </a:p>
          <a:p>
            <a:pPr algn="ctr"/>
            <a:r>
              <a:rPr lang="en-MY" sz="1000" dirty="0"/>
              <a:t>Still &gt;2200W -&gt; OFF Laptop </a:t>
            </a:r>
          </a:p>
          <a:p>
            <a:pPr algn="ctr"/>
            <a:r>
              <a:rPr lang="en-MY" sz="1000" dirty="0"/>
              <a:t>Kettle &amp; Toaster Protected 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C8F991A-F27C-94FD-4273-48A51E30E1F3}"/>
              </a:ext>
            </a:extLst>
          </p:cNvPr>
          <p:cNvCxnSpPr>
            <a:cxnSpLocks/>
          </p:cNvCxnSpPr>
          <p:nvPr/>
        </p:nvCxnSpPr>
        <p:spPr>
          <a:xfrm>
            <a:off x="7620377" y="4941821"/>
            <a:ext cx="1" cy="2255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C88A2C38-F63D-CCA1-177A-3F38B72AE20A}"/>
              </a:ext>
            </a:extLst>
          </p:cNvPr>
          <p:cNvSpPr/>
          <p:nvPr/>
        </p:nvSpPr>
        <p:spPr>
          <a:xfrm>
            <a:off x="6136897" y="5147573"/>
            <a:ext cx="3046339" cy="3629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P5: Relay Control</a:t>
            </a:r>
          </a:p>
          <a:p>
            <a:pPr algn="ctr"/>
            <a:r>
              <a:rPr lang="en-MY" sz="1000" dirty="0"/>
              <a:t>ESP32 Relay Controller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29FC47A6-B614-285F-D961-BA6B433765C8}"/>
              </a:ext>
            </a:extLst>
          </p:cNvPr>
          <p:cNvCxnSpPr>
            <a:cxnSpLocks/>
          </p:cNvCxnSpPr>
          <p:nvPr/>
        </p:nvCxnSpPr>
        <p:spPr>
          <a:xfrm>
            <a:off x="7618067" y="5526340"/>
            <a:ext cx="1" cy="2255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4233E6E7-B852-5F93-36DA-9410768A3540}"/>
              </a:ext>
            </a:extLst>
          </p:cNvPr>
          <p:cNvSpPr/>
          <p:nvPr/>
        </p:nvSpPr>
        <p:spPr>
          <a:xfrm>
            <a:off x="7063969" y="5751897"/>
            <a:ext cx="1192193" cy="2442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Relay Module</a:t>
            </a:r>
            <a:endParaRPr lang="en-MY" sz="10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B64FC57-467D-EDCF-F2F5-CA1157BA5A03}"/>
              </a:ext>
            </a:extLst>
          </p:cNvPr>
          <p:cNvCxnSpPr>
            <a:cxnSpLocks/>
          </p:cNvCxnSpPr>
          <p:nvPr/>
        </p:nvCxnSpPr>
        <p:spPr>
          <a:xfrm flipV="1">
            <a:off x="6139414" y="3672295"/>
            <a:ext cx="0" cy="1976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371ABDE-4FCF-0AEA-9632-6878804DAE90}"/>
              </a:ext>
            </a:extLst>
          </p:cNvPr>
          <p:cNvCxnSpPr>
            <a:cxnSpLocks/>
          </p:cNvCxnSpPr>
          <p:nvPr/>
        </p:nvCxnSpPr>
        <p:spPr>
          <a:xfrm flipH="1" flipV="1">
            <a:off x="4746648" y="3877809"/>
            <a:ext cx="2842867" cy="189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EAD1412-EFDD-C6A8-410B-A95B3C3F7DEF}"/>
              </a:ext>
            </a:extLst>
          </p:cNvPr>
          <p:cNvCxnSpPr>
            <a:cxnSpLocks/>
          </p:cNvCxnSpPr>
          <p:nvPr/>
        </p:nvCxnSpPr>
        <p:spPr>
          <a:xfrm>
            <a:off x="7589515" y="3896807"/>
            <a:ext cx="0" cy="2801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5175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39D2C5-9FBF-CC77-FB9A-C8E8D9C1271C}"/>
              </a:ext>
            </a:extLst>
          </p:cNvPr>
          <p:cNvSpPr/>
          <p:nvPr/>
        </p:nvSpPr>
        <p:spPr>
          <a:xfrm>
            <a:off x="4838218" y="57873"/>
            <a:ext cx="2326511" cy="5136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INPUT WINDOW</a:t>
            </a:r>
            <a:br>
              <a:rPr lang="en-MY" sz="1000" dirty="0"/>
            </a:br>
            <a:r>
              <a:rPr lang="en-MY" sz="1000" dirty="0"/>
              <a:t>Aggregate Power Signal</a:t>
            </a:r>
            <a:br>
              <a:rPr lang="en-MY" sz="1000" dirty="0"/>
            </a:br>
            <a:r>
              <a:rPr lang="en-MY" sz="1000" dirty="0"/>
              <a:t>(599 Samples)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125063-CA3E-919F-A079-97EED0CF769C}"/>
              </a:ext>
            </a:extLst>
          </p:cNvPr>
          <p:cNvSpPr/>
          <p:nvPr/>
        </p:nvSpPr>
        <p:spPr>
          <a:xfrm>
            <a:off x="4832981" y="735203"/>
            <a:ext cx="2326511" cy="87887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Conv1D Layer</a:t>
            </a:r>
          </a:p>
          <a:p>
            <a:pPr algn="ctr"/>
            <a:r>
              <a:rPr lang="en-MY" sz="1000" dirty="0"/>
              <a:t> Filters = 30</a:t>
            </a:r>
          </a:p>
          <a:p>
            <a:pPr algn="ctr"/>
            <a:r>
              <a:rPr lang="en-MY" sz="1000" dirty="0"/>
              <a:t>Kernel Size = 10</a:t>
            </a:r>
          </a:p>
          <a:p>
            <a:pPr algn="ctr"/>
            <a:r>
              <a:rPr lang="en-MY" sz="1000" dirty="0"/>
              <a:t>Activation = </a:t>
            </a:r>
            <a:r>
              <a:rPr lang="en-MY" sz="1000" dirty="0" err="1"/>
              <a:t>ReLU</a:t>
            </a:r>
            <a:endParaRPr lang="en-MY" sz="1000" dirty="0"/>
          </a:p>
          <a:p>
            <a:pPr algn="ctr"/>
            <a:r>
              <a:rPr lang="en-MY" sz="1000" dirty="0"/>
              <a:t>Output: (590, 30</a:t>
            </a:r>
            <a:r>
              <a:rPr lang="en-MY" sz="1200" dirty="0"/>
              <a:t>)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FFDC7C8-91C1-01BC-E0CE-612AEB3A6059}"/>
              </a:ext>
            </a:extLst>
          </p:cNvPr>
          <p:cNvCxnSpPr>
            <a:cxnSpLocks/>
          </p:cNvCxnSpPr>
          <p:nvPr/>
        </p:nvCxnSpPr>
        <p:spPr>
          <a:xfrm>
            <a:off x="5996237" y="563461"/>
            <a:ext cx="0" cy="1637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DCB6BA83-D0CD-3B55-58BA-4AC2A4F515DD}"/>
              </a:ext>
            </a:extLst>
          </p:cNvPr>
          <p:cNvSpPr/>
          <p:nvPr/>
        </p:nvSpPr>
        <p:spPr>
          <a:xfrm>
            <a:off x="4841821" y="1782782"/>
            <a:ext cx="2326509" cy="81029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Conv1D Layer </a:t>
            </a:r>
          </a:p>
          <a:p>
            <a:pPr algn="ctr"/>
            <a:r>
              <a:rPr lang="en-MY" sz="1000" dirty="0"/>
              <a:t>Filters = 30</a:t>
            </a:r>
          </a:p>
          <a:p>
            <a:pPr algn="ctr"/>
            <a:r>
              <a:rPr lang="en-MY" sz="1000" dirty="0"/>
              <a:t> Kernel Size = 8</a:t>
            </a:r>
          </a:p>
          <a:p>
            <a:pPr algn="ctr"/>
            <a:r>
              <a:rPr lang="en-MY" sz="1000" dirty="0"/>
              <a:t>Activation = </a:t>
            </a:r>
            <a:r>
              <a:rPr lang="en-MY" sz="1000" dirty="0" err="1"/>
              <a:t>ReLU</a:t>
            </a:r>
            <a:endParaRPr lang="en-MY" sz="1000" dirty="0"/>
          </a:p>
          <a:p>
            <a:pPr algn="ctr"/>
            <a:r>
              <a:rPr lang="en-MY" sz="1000" dirty="0"/>
              <a:t> Output: (583, 30)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E053BCE-1A52-ABBD-7CE0-801873AC4D28}"/>
              </a:ext>
            </a:extLst>
          </p:cNvPr>
          <p:cNvSpPr/>
          <p:nvPr/>
        </p:nvSpPr>
        <p:spPr>
          <a:xfrm>
            <a:off x="4841819" y="2766187"/>
            <a:ext cx="2326506" cy="7856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 Conv1D Layer</a:t>
            </a:r>
          </a:p>
          <a:p>
            <a:pPr algn="ctr"/>
            <a:r>
              <a:rPr lang="en-MY" sz="1000" dirty="0"/>
              <a:t>Filters = 40</a:t>
            </a:r>
          </a:p>
          <a:p>
            <a:pPr algn="ctr"/>
            <a:r>
              <a:rPr lang="en-MY" sz="1000" dirty="0"/>
              <a:t> Kernel Size = 6</a:t>
            </a:r>
          </a:p>
          <a:p>
            <a:pPr algn="ctr"/>
            <a:r>
              <a:rPr lang="en-MY" sz="1000" dirty="0"/>
              <a:t> Activation = </a:t>
            </a:r>
            <a:r>
              <a:rPr lang="en-MY" sz="1000" dirty="0" err="1"/>
              <a:t>ReLU</a:t>
            </a:r>
            <a:r>
              <a:rPr lang="en-MY" sz="1000" dirty="0"/>
              <a:t>                 </a:t>
            </a:r>
          </a:p>
          <a:p>
            <a:pPr algn="ctr"/>
            <a:r>
              <a:rPr lang="en-MY" sz="1000" dirty="0"/>
              <a:t>Output: (578, 40)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B56E0F8-36DC-41A3-911C-ED825D40E0B4}"/>
              </a:ext>
            </a:extLst>
          </p:cNvPr>
          <p:cNvSpPr/>
          <p:nvPr/>
        </p:nvSpPr>
        <p:spPr>
          <a:xfrm>
            <a:off x="4841821" y="3732008"/>
            <a:ext cx="2326503" cy="7806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Conv1D Layer</a:t>
            </a:r>
          </a:p>
          <a:p>
            <a:pPr algn="ctr"/>
            <a:r>
              <a:rPr lang="en-MY" sz="1000" dirty="0"/>
              <a:t> Filters = 50</a:t>
            </a:r>
          </a:p>
          <a:p>
            <a:pPr algn="ctr"/>
            <a:r>
              <a:rPr lang="en-MY" sz="1000" dirty="0"/>
              <a:t>Kernel Size = 5                   </a:t>
            </a:r>
          </a:p>
          <a:p>
            <a:pPr algn="ctr"/>
            <a:r>
              <a:rPr lang="en-MY" sz="1000" dirty="0"/>
              <a:t> Activation = </a:t>
            </a:r>
            <a:r>
              <a:rPr lang="en-MY" sz="1000" dirty="0" err="1"/>
              <a:t>ReLU</a:t>
            </a:r>
            <a:r>
              <a:rPr lang="en-MY" sz="1000" dirty="0"/>
              <a:t>                </a:t>
            </a:r>
          </a:p>
          <a:p>
            <a:pPr algn="ctr"/>
            <a:r>
              <a:rPr lang="en-MY" sz="1000" dirty="0"/>
              <a:t> Output: (574, 50)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92B95B3-3518-6F90-36E1-A2A86BF2E353}"/>
              </a:ext>
            </a:extLst>
          </p:cNvPr>
          <p:cNvSpPr/>
          <p:nvPr/>
        </p:nvSpPr>
        <p:spPr>
          <a:xfrm>
            <a:off x="4832281" y="4679936"/>
            <a:ext cx="2326503" cy="3148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Dropout Layer </a:t>
            </a:r>
          </a:p>
          <a:p>
            <a:pPr algn="ctr"/>
            <a:r>
              <a:rPr lang="en-MY" sz="1000" dirty="0"/>
              <a:t>Rate = 0.2 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B0B3FCA-C4F0-D8BE-769C-E1969A0EDD5B}"/>
              </a:ext>
            </a:extLst>
          </p:cNvPr>
          <p:cNvSpPr/>
          <p:nvPr/>
        </p:nvSpPr>
        <p:spPr>
          <a:xfrm>
            <a:off x="4841821" y="5166492"/>
            <a:ext cx="2326503" cy="30677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Flatten Layer </a:t>
            </a:r>
          </a:p>
          <a:p>
            <a:pPr algn="ctr"/>
            <a:r>
              <a:rPr lang="en-MY" sz="1000" dirty="0"/>
              <a:t>Output: 28,700 Features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7C73EC1-97E2-2B88-35B3-6C911D2D3FA2}"/>
              </a:ext>
            </a:extLst>
          </p:cNvPr>
          <p:cNvSpPr/>
          <p:nvPr/>
        </p:nvSpPr>
        <p:spPr>
          <a:xfrm>
            <a:off x="4841819" y="6250520"/>
            <a:ext cx="2326503" cy="46017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Output Layer </a:t>
            </a:r>
          </a:p>
          <a:p>
            <a:pPr algn="ctr"/>
            <a:r>
              <a:rPr lang="en-MY" sz="1000" dirty="0"/>
              <a:t>Dense(1) </a:t>
            </a:r>
          </a:p>
          <a:p>
            <a:pPr algn="ctr"/>
            <a:r>
              <a:rPr lang="en-MY" sz="1000" dirty="0"/>
              <a:t>Predicted Appliance Power (W) 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412D7B5-DA7E-0750-24B1-E546FFC7A50A}"/>
              </a:ext>
            </a:extLst>
          </p:cNvPr>
          <p:cNvSpPr/>
          <p:nvPr/>
        </p:nvSpPr>
        <p:spPr>
          <a:xfrm>
            <a:off x="4841820" y="5645009"/>
            <a:ext cx="2326503" cy="45099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/>
              <a:t>Dense Layer</a:t>
            </a:r>
          </a:p>
          <a:p>
            <a:pPr algn="ctr"/>
            <a:r>
              <a:rPr lang="en-MY" sz="1000" dirty="0"/>
              <a:t>1024 Neurons </a:t>
            </a:r>
          </a:p>
          <a:p>
            <a:pPr algn="ctr"/>
            <a:r>
              <a:rPr lang="en-MY" sz="1000" dirty="0"/>
              <a:t>Activation = </a:t>
            </a:r>
            <a:r>
              <a:rPr lang="en-MY" sz="1000" dirty="0" err="1"/>
              <a:t>ReLU</a:t>
            </a:r>
            <a:endParaRPr lang="en-MY" sz="1000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ACFC7A5-F354-60C8-0C71-15E5A1C5CF37}"/>
              </a:ext>
            </a:extLst>
          </p:cNvPr>
          <p:cNvCxnSpPr>
            <a:cxnSpLocks/>
          </p:cNvCxnSpPr>
          <p:nvPr/>
        </p:nvCxnSpPr>
        <p:spPr>
          <a:xfrm>
            <a:off x="5995533" y="1614079"/>
            <a:ext cx="0" cy="1637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CA79543-383C-3DB6-01CD-B30BF7964ED5}"/>
              </a:ext>
            </a:extLst>
          </p:cNvPr>
          <p:cNvCxnSpPr>
            <a:cxnSpLocks/>
          </p:cNvCxnSpPr>
          <p:nvPr/>
        </p:nvCxnSpPr>
        <p:spPr>
          <a:xfrm>
            <a:off x="6005072" y="2593073"/>
            <a:ext cx="0" cy="1637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FF08676-E2AE-18F5-8A77-546CB938B228}"/>
              </a:ext>
            </a:extLst>
          </p:cNvPr>
          <p:cNvCxnSpPr>
            <a:cxnSpLocks/>
          </p:cNvCxnSpPr>
          <p:nvPr/>
        </p:nvCxnSpPr>
        <p:spPr>
          <a:xfrm>
            <a:off x="6005072" y="3563305"/>
            <a:ext cx="0" cy="1637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008B1F2-840C-1095-D82D-110C78CA5C1D}"/>
              </a:ext>
            </a:extLst>
          </p:cNvPr>
          <p:cNvCxnSpPr>
            <a:cxnSpLocks/>
          </p:cNvCxnSpPr>
          <p:nvPr/>
        </p:nvCxnSpPr>
        <p:spPr>
          <a:xfrm>
            <a:off x="6005072" y="4512641"/>
            <a:ext cx="0" cy="1637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152FAC1-92C6-1C2C-B22F-D4851E6BFF48}"/>
              </a:ext>
            </a:extLst>
          </p:cNvPr>
          <p:cNvCxnSpPr>
            <a:cxnSpLocks/>
          </p:cNvCxnSpPr>
          <p:nvPr/>
        </p:nvCxnSpPr>
        <p:spPr>
          <a:xfrm>
            <a:off x="6005072" y="4994750"/>
            <a:ext cx="0" cy="1637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663727B-4629-2AAA-FA0A-289966D40E43}"/>
              </a:ext>
            </a:extLst>
          </p:cNvPr>
          <p:cNvCxnSpPr>
            <a:cxnSpLocks/>
          </p:cNvCxnSpPr>
          <p:nvPr/>
        </p:nvCxnSpPr>
        <p:spPr>
          <a:xfrm>
            <a:off x="6009394" y="5473267"/>
            <a:ext cx="0" cy="1637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5AFB5B2-0656-33C3-45E4-57033B717E03}"/>
              </a:ext>
            </a:extLst>
          </p:cNvPr>
          <p:cNvCxnSpPr>
            <a:cxnSpLocks/>
          </p:cNvCxnSpPr>
          <p:nvPr/>
        </p:nvCxnSpPr>
        <p:spPr>
          <a:xfrm>
            <a:off x="6032254" y="6096000"/>
            <a:ext cx="0" cy="1637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173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48D7F-5AF7-CAE6-6087-DCCE7B963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B45D276-0C01-080B-63C1-2D7665887BD7}"/>
              </a:ext>
            </a:extLst>
          </p:cNvPr>
          <p:cNvCxnSpPr>
            <a:cxnSpLocks/>
          </p:cNvCxnSpPr>
          <p:nvPr/>
        </p:nvCxnSpPr>
        <p:spPr>
          <a:xfrm>
            <a:off x="6708652" y="1443958"/>
            <a:ext cx="0" cy="1637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284EB9E-CD77-8D6C-00BF-C3BF59033EE2}"/>
              </a:ext>
            </a:extLst>
          </p:cNvPr>
          <p:cNvSpPr txBox="1"/>
          <p:nvPr/>
        </p:nvSpPr>
        <p:spPr>
          <a:xfrm>
            <a:off x="6186605" y="1197737"/>
            <a:ext cx="18397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000" dirty="0"/>
              <a:t>Aggregate Power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679844-E7D7-74D4-8BB8-E0C034053C3C}"/>
              </a:ext>
            </a:extLst>
          </p:cNvPr>
          <p:cNvSpPr txBox="1"/>
          <p:nvPr/>
        </p:nvSpPr>
        <p:spPr>
          <a:xfrm>
            <a:off x="6095677" y="1606232"/>
            <a:ext cx="18397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000" dirty="0"/>
              <a:t>Buffer (599 Samples)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2876C07-77C1-2C61-D2E0-B80E0BFEDF0B}"/>
              </a:ext>
            </a:extLst>
          </p:cNvPr>
          <p:cNvCxnSpPr>
            <a:cxnSpLocks/>
          </p:cNvCxnSpPr>
          <p:nvPr/>
        </p:nvCxnSpPr>
        <p:spPr>
          <a:xfrm>
            <a:off x="6715860" y="1825335"/>
            <a:ext cx="0" cy="1206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19273A-6E33-8587-398E-43626A0F3BD6}"/>
              </a:ext>
            </a:extLst>
          </p:cNvPr>
          <p:cNvCxnSpPr>
            <a:cxnSpLocks/>
          </p:cNvCxnSpPr>
          <p:nvPr/>
        </p:nvCxnSpPr>
        <p:spPr>
          <a:xfrm>
            <a:off x="5628791" y="1945941"/>
            <a:ext cx="210804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6794F61-DCC1-5548-39FA-86088E6A603F}"/>
              </a:ext>
            </a:extLst>
          </p:cNvPr>
          <p:cNvCxnSpPr>
            <a:cxnSpLocks/>
          </p:cNvCxnSpPr>
          <p:nvPr/>
        </p:nvCxnSpPr>
        <p:spPr>
          <a:xfrm>
            <a:off x="5628791" y="1934361"/>
            <a:ext cx="0" cy="159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19E8AD5-237B-9071-1AC1-795BACA5A89B}"/>
              </a:ext>
            </a:extLst>
          </p:cNvPr>
          <p:cNvCxnSpPr>
            <a:cxnSpLocks/>
          </p:cNvCxnSpPr>
          <p:nvPr/>
        </p:nvCxnSpPr>
        <p:spPr>
          <a:xfrm>
            <a:off x="7736840" y="1934360"/>
            <a:ext cx="0" cy="159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9B5D429-CEF3-44D6-83F7-3FA51E0CCEAF}"/>
              </a:ext>
            </a:extLst>
          </p:cNvPr>
          <p:cNvSpPr txBox="1"/>
          <p:nvPr/>
        </p:nvSpPr>
        <p:spPr>
          <a:xfrm>
            <a:off x="4951538" y="2089928"/>
            <a:ext cx="18397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000" dirty="0"/>
              <a:t>Seq2Point NILM Model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68DFDF-134C-ED49-80D2-0E352A507F37}"/>
              </a:ext>
            </a:extLst>
          </p:cNvPr>
          <p:cNvSpPr txBox="1"/>
          <p:nvPr/>
        </p:nvSpPr>
        <p:spPr>
          <a:xfrm>
            <a:off x="7106502" y="2089928"/>
            <a:ext cx="18397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000" dirty="0"/>
              <a:t>Classification Model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F9ABE1-39AB-9392-2B76-4B1C34ADFA10}"/>
              </a:ext>
            </a:extLst>
          </p:cNvPr>
          <p:cNvSpPr txBox="1"/>
          <p:nvPr/>
        </p:nvSpPr>
        <p:spPr>
          <a:xfrm>
            <a:off x="5097842" y="2336149"/>
            <a:ext cx="13192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sz="1000" dirty="0"/>
              <a:t>Lamp Power (W) </a:t>
            </a:r>
          </a:p>
          <a:p>
            <a:pPr algn="ctr"/>
            <a:r>
              <a:rPr lang="en-MY" sz="1000" dirty="0"/>
              <a:t>Laptop Power (W) </a:t>
            </a:r>
          </a:p>
          <a:p>
            <a:pPr algn="ctr"/>
            <a:r>
              <a:rPr lang="en-MY" sz="1000" dirty="0"/>
              <a:t>Kettle Power (W)</a:t>
            </a:r>
            <a:br>
              <a:rPr lang="en-MY" sz="1000" dirty="0"/>
            </a:br>
            <a:r>
              <a:rPr lang="en-MY" sz="1000" dirty="0"/>
              <a:t>Toaster Power (W)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0D8745-6462-DF98-6B0F-0D5AE02BC1FA}"/>
              </a:ext>
            </a:extLst>
          </p:cNvPr>
          <p:cNvSpPr txBox="1"/>
          <p:nvPr/>
        </p:nvSpPr>
        <p:spPr>
          <a:xfrm>
            <a:off x="7106502" y="2336149"/>
            <a:ext cx="13192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sz="1000" dirty="0"/>
              <a:t>Lamp Status (0/1) Laptop Status (0/1)</a:t>
            </a:r>
          </a:p>
          <a:p>
            <a:pPr algn="ctr"/>
            <a:r>
              <a:rPr lang="en-MY" sz="1000" dirty="0"/>
              <a:t>Kettle Status (0/1) Toaster Status (0/1)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2112AC5-DD79-1A3D-A05C-4FE547C1372D}"/>
              </a:ext>
            </a:extLst>
          </p:cNvPr>
          <p:cNvCxnSpPr>
            <a:cxnSpLocks/>
          </p:cNvCxnSpPr>
          <p:nvPr/>
        </p:nvCxnSpPr>
        <p:spPr>
          <a:xfrm>
            <a:off x="5661835" y="3112610"/>
            <a:ext cx="210804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074D253-D671-CF07-44DA-10AB5CF8D170}"/>
              </a:ext>
            </a:extLst>
          </p:cNvPr>
          <p:cNvCxnSpPr>
            <a:cxnSpLocks/>
          </p:cNvCxnSpPr>
          <p:nvPr/>
        </p:nvCxnSpPr>
        <p:spPr>
          <a:xfrm>
            <a:off x="5655839" y="3007959"/>
            <a:ext cx="0" cy="1206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2B13179-0902-4EDB-CC04-C300ACD3C28A}"/>
              </a:ext>
            </a:extLst>
          </p:cNvPr>
          <p:cNvCxnSpPr>
            <a:cxnSpLocks/>
          </p:cNvCxnSpPr>
          <p:nvPr/>
        </p:nvCxnSpPr>
        <p:spPr>
          <a:xfrm>
            <a:off x="7766209" y="3007959"/>
            <a:ext cx="0" cy="1206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34A8412-51F3-9298-F362-97F359EA22BC}"/>
              </a:ext>
            </a:extLst>
          </p:cNvPr>
          <p:cNvCxnSpPr>
            <a:cxnSpLocks/>
          </p:cNvCxnSpPr>
          <p:nvPr/>
        </p:nvCxnSpPr>
        <p:spPr>
          <a:xfrm>
            <a:off x="6708652" y="3112610"/>
            <a:ext cx="0" cy="159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CA6C944-C5A4-308C-CCE1-1C3B257AAE82}"/>
              </a:ext>
            </a:extLst>
          </p:cNvPr>
          <p:cNvSpPr txBox="1"/>
          <p:nvPr/>
        </p:nvSpPr>
        <p:spPr>
          <a:xfrm>
            <a:off x="5927330" y="3243678"/>
            <a:ext cx="18397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000" dirty="0"/>
              <a:t>Hybrid NILM Output Layer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097EED-0BD0-F3CC-9DF4-EEC4E6941D31}"/>
              </a:ext>
            </a:extLst>
          </p:cNvPr>
          <p:cNvSpPr txBox="1"/>
          <p:nvPr/>
        </p:nvSpPr>
        <p:spPr>
          <a:xfrm>
            <a:off x="5725116" y="3555045"/>
            <a:ext cx="21080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000" dirty="0"/>
              <a:t>Appliance Power + ON/OFF Status</a:t>
            </a:r>
          </a:p>
        </p:txBody>
      </p:sp>
    </p:spTree>
    <p:extLst>
      <p:ext uri="{BB962C8B-B14F-4D97-AF65-F5344CB8AC3E}">
        <p14:creationId xmlns:p14="http://schemas.microsoft.com/office/powerpoint/2010/main" val="3325926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392F33-780D-5758-8C19-EF47A9D43970}"/>
              </a:ext>
            </a:extLst>
          </p:cNvPr>
          <p:cNvSpPr/>
          <p:nvPr/>
        </p:nvSpPr>
        <p:spPr>
          <a:xfrm>
            <a:off x="374225" y="520862"/>
            <a:ext cx="8515132" cy="5486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C326A3-7C57-98B8-92AB-F19D48284D78}"/>
              </a:ext>
            </a:extLst>
          </p:cNvPr>
          <p:cNvSpPr/>
          <p:nvPr/>
        </p:nvSpPr>
        <p:spPr>
          <a:xfrm>
            <a:off x="781666" y="968737"/>
            <a:ext cx="2605548" cy="10962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883687-E331-7850-E12C-665FA00F7A88}"/>
              </a:ext>
            </a:extLst>
          </p:cNvPr>
          <p:cNvSpPr/>
          <p:nvPr/>
        </p:nvSpPr>
        <p:spPr>
          <a:xfrm>
            <a:off x="1120878" y="1280911"/>
            <a:ext cx="1927123" cy="4719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/>
              <a:t>SCT013 Current Sensor</a:t>
            </a:r>
          </a:p>
          <a:p>
            <a:pPr algn="ctr"/>
            <a:r>
              <a:rPr lang="en-MY" sz="1200" dirty="0"/>
              <a:t>ZMPT101B Voltage Sensor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B10EAD-F3DD-6967-F9B2-5FFBD49B7A7E}"/>
              </a:ext>
            </a:extLst>
          </p:cNvPr>
          <p:cNvSpPr/>
          <p:nvPr/>
        </p:nvSpPr>
        <p:spPr>
          <a:xfrm>
            <a:off x="789038" y="2285201"/>
            <a:ext cx="2598176" cy="10446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4A09E4-B7D8-A110-4357-B9AFE43A97E7}"/>
              </a:ext>
            </a:extLst>
          </p:cNvPr>
          <p:cNvSpPr/>
          <p:nvPr/>
        </p:nvSpPr>
        <p:spPr>
          <a:xfrm>
            <a:off x="1075404" y="2597375"/>
            <a:ext cx="1927123" cy="4719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/>
              <a:t>MQTT Subscriber</a:t>
            </a:r>
          </a:p>
          <a:p>
            <a:pPr algn="ctr"/>
            <a:r>
              <a:rPr lang="en-MY" sz="1200" dirty="0"/>
              <a:t>GPIO Control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F6D028-FA32-8AE8-FB66-EF5F1206E2A6}"/>
              </a:ext>
            </a:extLst>
          </p:cNvPr>
          <p:cNvSpPr txBox="1"/>
          <p:nvPr/>
        </p:nvSpPr>
        <p:spPr>
          <a:xfrm>
            <a:off x="1455175" y="1003912"/>
            <a:ext cx="19369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200" dirty="0"/>
              <a:t>ESP32 Sensor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1D7C10-AE2C-91A1-ABA6-D133E1195BE0}"/>
              </a:ext>
            </a:extLst>
          </p:cNvPr>
          <p:cNvSpPr txBox="1"/>
          <p:nvPr/>
        </p:nvSpPr>
        <p:spPr>
          <a:xfrm>
            <a:off x="4094452" y="690578"/>
            <a:ext cx="1936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Local Network</a:t>
            </a:r>
            <a:endParaRPr lang="en-MY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16AB20-CE3B-7B7C-43AB-AC5AAB7FFF01}"/>
              </a:ext>
            </a:extLst>
          </p:cNvPr>
          <p:cNvSpPr txBox="1"/>
          <p:nvPr/>
        </p:nvSpPr>
        <p:spPr>
          <a:xfrm>
            <a:off x="1197840" y="2336817"/>
            <a:ext cx="2202893" cy="278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200" dirty="0"/>
              <a:t>ESP32 Relay Control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FE0F7F-DCE3-7F97-72D7-F9D6655E3898}"/>
              </a:ext>
            </a:extLst>
          </p:cNvPr>
          <p:cNvSpPr/>
          <p:nvPr/>
        </p:nvSpPr>
        <p:spPr>
          <a:xfrm>
            <a:off x="3824750" y="1190626"/>
            <a:ext cx="4675238" cy="44513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28E73A-6D78-A26A-8195-D1331AA43764}"/>
              </a:ext>
            </a:extLst>
          </p:cNvPr>
          <p:cNvSpPr txBox="1"/>
          <p:nvPr/>
        </p:nvSpPr>
        <p:spPr>
          <a:xfrm>
            <a:off x="5062930" y="1280911"/>
            <a:ext cx="2408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Raspberry Pi 4 (Docker Host)</a:t>
            </a:r>
            <a:endParaRPr lang="en-MY" sz="12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319BA6-4A1E-2C8E-1D21-84285A585C65}"/>
              </a:ext>
            </a:extLst>
          </p:cNvPr>
          <p:cNvSpPr/>
          <p:nvPr/>
        </p:nvSpPr>
        <p:spPr>
          <a:xfrm>
            <a:off x="5119465" y="2028274"/>
            <a:ext cx="1927123" cy="4719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 err="1"/>
              <a:t>Mosquitto</a:t>
            </a:r>
            <a:r>
              <a:rPr lang="en-MY" sz="1200" dirty="0"/>
              <a:t> MQTT Broker (1883)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0A0BC8-1226-7206-09FE-C48E5CD41593}"/>
              </a:ext>
            </a:extLst>
          </p:cNvPr>
          <p:cNvSpPr/>
          <p:nvPr/>
        </p:nvSpPr>
        <p:spPr>
          <a:xfrm>
            <a:off x="5129297" y="2925501"/>
            <a:ext cx="1927123" cy="4719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Node-RED 1880</a:t>
            </a:r>
            <a:endParaRPr lang="en-MY" sz="12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59522A-16AB-7DCF-97DE-D899B3796ECA}"/>
              </a:ext>
            </a:extLst>
          </p:cNvPr>
          <p:cNvSpPr/>
          <p:nvPr/>
        </p:nvSpPr>
        <p:spPr>
          <a:xfrm>
            <a:off x="4458588" y="3618672"/>
            <a:ext cx="1592827" cy="4719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/>
              <a:t>Seq2Point NILM Model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8CF2F5-56CA-C188-E7E5-E5565513FB7D}"/>
              </a:ext>
            </a:extLst>
          </p:cNvPr>
          <p:cNvSpPr/>
          <p:nvPr/>
        </p:nvSpPr>
        <p:spPr>
          <a:xfrm>
            <a:off x="6440000" y="3593943"/>
            <a:ext cx="1592827" cy="4719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/>
              <a:t>Appliance Classifier Model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CFB99B-4A7F-B790-64AA-7E51806B7FEA}"/>
              </a:ext>
            </a:extLst>
          </p:cNvPr>
          <p:cNvSpPr/>
          <p:nvPr/>
        </p:nvSpPr>
        <p:spPr>
          <a:xfrm>
            <a:off x="4462796" y="5127966"/>
            <a:ext cx="3651339" cy="3067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/>
              <a:t>Grafana Dashboard 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0DA5D03-D471-00C8-72E5-30C97A3D1549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2084440" y="1752859"/>
            <a:ext cx="3998587" cy="2368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BEB1A93-480D-0939-9EAB-8A57563E80FB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3060291" y="2862117"/>
            <a:ext cx="2069006" cy="2993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04EFD91-2FA1-2E80-F346-3FF4924FF73D}"/>
              </a:ext>
            </a:extLst>
          </p:cNvPr>
          <p:cNvCxnSpPr>
            <a:cxnSpLocks/>
          </p:cNvCxnSpPr>
          <p:nvPr/>
        </p:nvCxnSpPr>
        <p:spPr>
          <a:xfrm flipH="1">
            <a:off x="5234994" y="3405644"/>
            <a:ext cx="390834" cy="204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A4A66C7-11D3-C442-BABA-4991844AA7A6}"/>
              </a:ext>
            </a:extLst>
          </p:cNvPr>
          <p:cNvCxnSpPr>
            <a:cxnSpLocks/>
          </p:cNvCxnSpPr>
          <p:nvPr/>
        </p:nvCxnSpPr>
        <p:spPr>
          <a:xfrm>
            <a:off x="6682799" y="3416326"/>
            <a:ext cx="383453" cy="171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7B2C04C-372B-AA47-AD13-E817182B6006}"/>
              </a:ext>
            </a:extLst>
          </p:cNvPr>
          <p:cNvCxnSpPr>
            <a:cxnSpLocks/>
          </p:cNvCxnSpPr>
          <p:nvPr/>
        </p:nvCxnSpPr>
        <p:spPr>
          <a:xfrm>
            <a:off x="5234994" y="4090015"/>
            <a:ext cx="0" cy="390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FD96393-0EA8-0FA6-BDC5-46B880B7D96A}"/>
              </a:ext>
            </a:extLst>
          </p:cNvPr>
          <p:cNvSpPr txBox="1"/>
          <p:nvPr/>
        </p:nvSpPr>
        <p:spPr>
          <a:xfrm>
            <a:off x="3934063" y="2503637"/>
            <a:ext cx="1936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200" dirty="0"/>
              <a:t>Publish MQTT</a:t>
            </a:r>
          </a:p>
          <a:p>
            <a:r>
              <a:rPr lang="en-MY" sz="1200" dirty="0"/>
              <a:t>Command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405E4B-44C4-3E34-72EF-8C21C9DF6109}"/>
              </a:ext>
            </a:extLst>
          </p:cNvPr>
          <p:cNvSpPr/>
          <p:nvPr/>
        </p:nvSpPr>
        <p:spPr>
          <a:xfrm>
            <a:off x="4458588" y="4468778"/>
            <a:ext cx="3651340" cy="3151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 err="1"/>
              <a:t>InfluxDB</a:t>
            </a:r>
            <a:r>
              <a:rPr lang="en-MY" sz="1200" dirty="0"/>
              <a:t> (8086)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B81417B-93D1-6026-9679-503DC8CDEE1B}"/>
              </a:ext>
            </a:extLst>
          </p:cNvPr>
          <p:cNvCxnSpPr>
            <a:cxnSpLocks/>
          </p:cNvCxnSpPr>
          <p:nvPr/>
        </p:nvCxnSpPr>
        <p:spPr>
          <a:xfrm>
            <a:off x="7122790" y="4065891"/>
            <a:ext cx="0" cy="390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3CAB0FCC-2D25-D807-1E71-0ACC371A4193}"/>
              </a:ext>
            </a:extLst>
          </p:cNvPr>
          <p:cNvSpPr txBox="1"/>
          <p:nvPr/>
        </p:nvSpPr>
        <p:spPr>
          <a:xfrm>
            <a:off x="4146071" y="1545501"/>
            <a:ext cx="19369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200" dirty="0"/>
              <a:t>MQTT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FD5E7ED-3003-6E30-C73A-E20BD9923CC3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>
            <a:off x="6083027" y="2500222"/>
            <a:ext cx="9832" cy="4252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41AB0F20-AA68-3FAA-921D-A83D3F18A7C5}"/>
              </a:ext>
            </a:extLst>
          </p:cNvPr>
          <p:cNvSpPr/>
          <p:nvPr/>
        </p:nvSpPr>
        <p:spPr>
          <a:xfrm>
            <a:off x="789038" y="3868466"/>
            <a:ext cx="2598176" cy="10446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/>
              <a:t>Relay Module</a:t>
            </a:r>
          </a:p>
          <a:p>
            <a:pPr algn="ctr"/>
            <a:r>
              <a:rPr lang="en-MY" sz="1200" dirty="0"/>
              <a:t>Lamp</a:t>
            </a:r>
          </a:p>
          <a:p>
            <a:pPr algn="ctr"/>
            <a:r>
              <a:rPr lang="en-MY" sz="1200" dirty="0"/>
              <a:t>Laptop</a:t>
            </a:r>
          </a:p>
          <a:p>
            <a:pPr algn="ctr"/>
            <a:r>
              <a:rPr lang="en-MY" sz="1200" dirty="0"/>
              <a:t>Kettle</a:t>
            </a:r>
          </a:p>
          <a:p>
            <a:pPr algn="ctr"/>
            <a:r>
              <a:rPr lang="en-MY" sz="1200" dirty="0"/>
              <a:t>Toaster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61426B8-AE04-C1C1-F089-C167906547E9}"/>
              </a:ext>
            </a:extLst>
          </p:cNvPr>
          <p:cNvCxnSpPr>
            <a:cxnSpLocks/>
            <a:stCxn id="12" idx="2"/>
            <a:endCxn id="60" idx="0"/>
          </p:cNvCxnSpPr>
          <p:nvPr/>
        </p:nvCxnSpPr>
        <p:spPr>
          <a:xfrm>
            <a:off x="2088126" y="3329881"/>
            <a:ext cx="0" cy="5385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6F45B8D-4435-1CCC-C0AF-912A4E730797}"/>
              </a:ext>
            </a:extLst>
          </p:cNvPr>
          <p:cNvSpPr txBox="1"/>
          <p:nvPr/>
        </p:nvSpPr>
        <p:spPr>
          <a:xfrm>
            <a:off x="1555058" y="3510855"/>
            <a:ext cx="19369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200" dirty="0"/>
              <a:t>GPIO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62B2A3D-8CB4-246B-4282-15A73FBF1BBE}"/>
              </a:ext>
            </a:extLst>
          </p:cNvPr>
          <p:cNvCxnSpPr>
            <a:cxnSpLocks/>
          </p:cNvCxnSpPr>
          <p:nvPr/>
        </p:nvCxnSpPr>
        <p:spPr>
          <a:xfrm>
            <a:off x="6162369" y="4795971"/>
            <a:ext cx="0" cy="3009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3873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1011</TotalTime>
  <Words>774</Words>
  <Application>Microsoft Office PowerPoint</Application>
  <PresentationFormat>Widescreen</PresentationFormat>
  <Paragraphs>243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MAXINE LIM WEI CHI</dc:creator>
  <cp:lastModifiedBy>MAXINE LIM WEI CHI</cp:lastModifiedBy>
  <cp:revision>39</cp:revision>
  <dcterms:created xsi:type="dcterms:W3CDTF">2025-11-13T11:56:51Z</dcterms:created>
  <dcterms:modified xsi:type="dcterms:W3CDTF">2026-06-07T03:17:48Z</dcterms:modified>
</cp:coreProperties>
</file>